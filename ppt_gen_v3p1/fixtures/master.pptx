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18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4C3CD-9B35-50B4-82D2-6707F585A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>
            <a:extLst>
              <a:ext uri="{FF2B5EF4-FFF2-40B4-BE49-F238E27FC236}">
                <a16:creationId xmlns:a16="http://schemas.microsoft.com/office/drawing/2014/main" id="{94C61494-0821-5580-B942-1AB8DD922CB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9A294589-A957-5593-BC80-8324BF32301E}"/>
              </a:ext>
            </a:extLst>
          </p:cNvPr>
          <p:cNvSpPr/>
          <p:nvPr/>
        </p:nvSpPr>
        <p:spPr>
          <a:xfrm>
            <a:off x="914400" y="3977639"/>
            <a:ext cx="2286000" cy="6858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83D83245-C2BE-585C-8CDD-EFDC841A3F88}"/>
              </a:ext>
            </a:extLst>
          </p:cNvPr>
          <p:cNvSpPr txBox="1"/>
          <p:nvPr/>
        </p:nvSpPr>
        <p:spPr>
          <a:xfrm>
            <a:off x="914400" y="2057400"/>
            <a:ext cx="10363200" cy="12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4000" b="1" dirty="0">
                <a:solidFill>
                  <a:srgbClr val="FFFFFF"/>
                </a:solidFill>
              </a:rPr>
              <a:t>{{ClientName}}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6D02C16B-0DED-548B-8C9C-50E1170C5A2B}"/>
              </a:ext>
            </a:extLst>
          </p:cNvPr>
          <p:cNvSpPr txBox="1"/>
          <p:nvPr/>
        </p:nvSpPr>
        <p:spPr>
          <a:xfrm>
            <a:off x="914400" y="4389120"/>
            <a:ext cx="10363200" cy="7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2000" b="0" dirty="0">
                <a:solidFill>
                  <a:srgbClr val="D6E4F5"/>
                </a:solidFill>
              </a:rPr>
              <a:t>Proposal for external audit services</a:t>
            </a:r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866AD034-F6EA-515A-8634-E4A82E462F50}"/>
              </a:ext>
            </a:extLst>
          </p:cNvPr>
          <p:cNvSpPr txBox="1"/>
          <p:nvPr/>
        </p:nvSpPr>
        <p:spPr>
          <a:xfrm>
            <a:off x="914400" y="5943600"/>
            <a:ext cx="10363200" cy="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200" b="0" dirty="0">
                <a:solidFill>
                  <a:srgbClr val="9FB8DA"/>
                </a:solidFill>
              </a:rPr>
              <a:t>Prepared by Demo LLP  •  {{DueDate}}</a:t>
            </a:r>
          </a:p>
        </p:txBody>
      </p:sp>
      <p:sp>
        <p:nvSpPr>
          <p:cNvPr id="7" name="block-marker">
            <a:extLst>
              <a:ext uri="{FF2B5EF4-FFF2-40B4-BE49-F238E27FC236}">
                <a16:creationId xmlns:a16="http://schemas.microsoft.com/office/drawing/2014/main" id="{55725F21-C551-5538-9B68-744CDFB03C31}"/>
              </a:ext>
            </a:extLst>
          </p:cNvPr>
          <p:cNvSpPr txBox="1"/>
          <p:nvPr/>
        </p:nvSpPr>
        <p:spPr>
          <a:xfrm>
            <a:off x="13106400" y="0"/>
            <a:ext cx="2743200" cy="4572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200" b="0" dirty="0"/>
              <a:t>{{block:cover}}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980B1-D217-526C-A695-9E92186E0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>
            <a:extLst>
              <a:ext uri="{FF2B5EF4-FFF2-40B4-BE49-F238E27FC236}">
                <a16:creationId xmlns:a16="http://schemas.microsoft.com/office/drawing/2014/main" id="{2331B5A7-5038-5A63-AB5B-31800048F92C}"/>
              </a:ext>
            </a:extLst>
          </p:cNvPr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1F4ECDF-8609-56A7-B8E2-1A62FE9C8B4F}"/>
              </a:ext>
            </a:extLst>
          </p:cNvPr>
          <p:cNvSpPr txBox="1"/>
          <p:nvPr/>
        </p:nvSpPr>
        <p:spPr>
          <a:xfrm>
            <a:off x="914400" y="960120"/>
            <a:ext cx="10363200" cy="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200" b="1" dirty="0">
                <a:solidFill>
                  <a:srgbClr val="00338D"/>
                </a:solidFill>
              </a:rPr>
              <a:t>Agenda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63401561-CCA8-5C81-BA96-839700D1EEBB}"/>
              </a:ext>
            </a:extLst>
          </p:cNvPr>
          <p:cNvSpPr txBox="1"/>
          <p:nvPr/>
        </p:nvSpPr>
        <p:spPr>
          <a:xfrm>
            <a:off x="914400" y="2194560"/>
            <a:ext cx="10363200" cy="2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800" b="0" dirty="0"/>
              <a:t>•  Who we are</a:t>
            </a:r>
          </a:p>
          <a:p>
            <a:pPr algn="l"/>
            <a:r>
              <a:rPr lang="en-US" sz="1800" b="0" dirty="0"/>
              <a:t>•  How we audit</a:t>
            </a:r>
          </a:p>
          <a:p>
            <a:pPr algn="l"/>
            <a:r>
              <a:rPr lang="en-US" sz="1800" b="0" dirty="0"/>
              <a:t>•  Scope and timetable</a:t>
            </a:r>
          </a:p>
          <a:p>
            <a:pPr algn="l"/>
            <a:r>
              <a:rPr lang="en-US" sz="1800" b="0" dirty="0"/>
              <a:t>•  Fees</a:t>
            </a:r>
          </a:p>
          <a:p>
            <a:pPr algn="l"/>
            <a:r>
              <a:rPr lang="en-US" sz="1800" b="0" dirty="0"/>
              <a:t>•  Next steps</a:t>
            </a:r>
          </a:p>
        </p:txBody>
      </p:sp>
      <p:sp>
        <p:nvSpPr>
          <p:cNvPr id="6" name="block-marker">
            <a:extLst>
              <a:ext uri="{FF2B5EF4-FFF2-40B4-BE49-F238E27FC236}">
                <a16:creationId xmlns:a16="http://schemas.microsoft.com/office/drawing/2014/main" id="{3061A1DF-8432-5861-A6EA-D526F062E78B}"/>
              </a:ext>
            </a:extLst>
          </p:cNvPr>
          <p:cNvSpPr txBox="1"/>
          <p:nvPr/>
        </p:nvSpPr>
        <p:spPr>
          <a:xfrm>
            <a:off x="13106400" y="0"/>
            <a:ext cx="2743200" cy="4572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200" b="0" dirty="0"/>
              <a:t>{{block:agenda}}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44A06-E026-5863-9F66-967A8E96B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>
            <a:extLst>
              <a:ext uri="{FF2B5EF4-FFF2-40B4-BE49-F238E27FC236}">
                <a16:creationId xmlns:a16="http://schemas.microsoft.com/office/drawing/2014/main" id="{B624E8B8-C9FB-5ED0-8184-918C151DDE58}"/>
              </a:ext>
            </a:extLst>
          </p:cNvPr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FE9D672A-AB23-58E6-8442-DADD7612F172}"/>
              </a:ext>
            </a:extLst>
          </p:cNvPr>
          <p:cNvSpPr txBox="1"/>
          <p:nvPr/>
        </p:nvSpPr>
        <p:spPr>
          <a:xfrm>
            <a:off x="914400" y="960120"/>
            <a:ext cx="10363200" cy="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200" b="1" dirty="0">
                <a:solidFill>
                  <a:srgbClr val="00338D"/>
                </a:solidFill>
              </a:rPr>
              <a:t>About {{FirmName}}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47268A61-EBA0-5E0D-9A3B-C00AAF258C2F}"/>
              </a:ext>
            </a:extLst>
          </p:cNvPr>
          <p:cNvSpPr txBox="1"/>
          <p:nvPr/>
        </p:nvSpPr>
        <p:spPr>
          <a:xfrm>
            <a:off x="914400" y="2194560"/>
            <a:ext cx="10363200" cy="2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800" b="0" dirty="0"/>
              <a:t>•  A national audit practice with 40 years of continuous service.</a:t>
            </a:r>
          </a:p>
          <a:p>
            <a:pPr algn="l"/>
            <a:r>
              <a:rPr lang="en-US" sz="1800" b="0" dirty="0"/>
              <a:t>•  Sector specialists embedded in every engagement team.</a:t>
            </a:r>
          </a:p>
          <a:p>
            <a:pPr algn="l"/>
            <a:r>
              <a:rPr lang="en-US" sz="1800" b="0" dirty="0"/>
              <a:t>•  Independent, and structured to stay that way.</a:t>
            </a:r>
          </a:p>
        </p:txBody>
      </p:sp>
      <p:sp>
        <p:nvSpPr>
          <p:cNvPr id="6" name="block-marker">
            <a:extLst>
              <a:ext uri="{FF2B5EF4-FFF2-40B4-BE49-F238E27FC236}">
                <a16:creationId xmlns:a16="http://schemas.microsoft.com/office/drawing/2014/main" id="{6E22957C-14DE-5D78-BC0F-1DB062DD8C87}"/>
              </a:ext>
            </a:extLst>
          </p:cNvPr>
          <p:cNvSpPr txBox="1"/>
          <p:nvPr/>
        </p:nvSpPr>
        <p:spPr>
          <a:xfrm>
            <a:off x="13106400" y="0"/>
            <a:ext cx="2743200" cy="4572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200" b="0" dirty="0"/>
              <a:t>{{block:about_us}}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B1337-0691-592C-8465-CB508D9CD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>
            <a:extLst>
              <a:ext uri="{FF2B5EF4-FFF2-40B4-BE49-F238E27FC236}">
                <a16:creationId xmlns:a16="http://schemas.microsoft.com/office/drawing/2014/main" id="{050DDBF2-9E72-5C89-A97E-1529F3C998D0}"/>
              </a:ext>
            </a:extLst>
          </p:cNvPr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AD9B0BE-AF0C-5922-BA14-E5B8596250BA}"/>
              </a:ext>
            </a:extLst>
          </p:cNvPr>
          <p:cNvSpPr txBox="1"/>
          <p:nvPr/>
        </p:nvSpPr>
        <p:spPr>
          <a:xfrm>
            <a:off x="914400" y="960120"/>
            <a:ext cx="10363200" cy="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200" b="1" dirty="0">
                <a:solidFill>
                  <a:srgbClr val="00338D"/>
                </a:solidFill>
              </a:rPr>
              <a:t>Your engagement team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CE2DCF0C-A52E-5955-ADE3-A743E71B3244}"/>
              </a:ext>
            </a:extLst>
          </p:cNvPr>
          <p:cNvSpPr txBox="1"/>
          <p:nvPr/>
        </p:nvSpPr>
        <p:spPr>
          <a:xfrm>
            <a:off x="914400" y="2194560"/>
            <a:ext cx="10363200" cy="2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800" b="0" dirty="0"/>
              <a:t>•  {{LeadPartner}} leads the engagement and signs the opinion.</a:t>
            </a:r>
          </a:p>
          <a:p>
            <a:pPr algn="l"/>
            <a:r>
              <a:rPr lang="en-US" sz="1800" b="0" dirty="0"/>
              <a:t>•  A named manager on site throughout fieldwork.</a:t>
            </a:r>
          </a:p>
          <a:p>
            <a:pPr algn="l"/>
            <a:r>
              <a:rPr lang="en-US" sz="1800" b="0" dirty="0"/>
              <a:t>•  Continuity of team members year over year.</a:t>
            </a:r>
          </a:p>
        </p:txBody>
      </p:sp>
      <p:sp>
        <p:nvSpPr>
          <p:cNvPr id="6" name="block-marker">
            <a:extLst>
              <a:ext uri="{FF2B5EF4-FFF2-40B4-BE49-F238E27FC236}">
                <a16:creationId xmlns:a16="http://schemas.microsoft.com/office/drawing/2014/main" id="{7DEFFFCB-91E7-5F8D-8D3B-5EEFEA6EF191}"/>
              </a:ext>
            </a:extLst>
          </p:cNvPr>
          <p:cNvSpPr txBox="1"/>
          <p:nvPr/>
        </p:nvSpPr>
        <p:spPr>
          <a:xfrm>
            <a:off x="13106400" y="0"/>
            <a:ext cx="2743200" cy="4572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200" b="0" dirty="0"/>
              <a:t>{{block:engagement_team}}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04EC3-3ACD-56D0-BC74-8EB4CD5EB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>
            <a:extLst>
              <a:ext uri="{FF2B5EF4-FFF2-40B4-BE49-F238E27FC236}">
                <a16:creationId xmlns:a16="http://schemas.microsoft.com/office/drawing/2014/main" id="{42EACAF7-6961-5304-AD37-938FCB899A28}"/>
              </a:ext>
            </a:extLst>
          </p:cNvPr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27CF30B-372B-55B8-8506-DDB727FC9ECC}"/>
              </a:ext>
            </a:extLst>
          </p:cNvPr>
          <p:cNvSpPr txBox="1"/>
          <p:nvPr/>
        </p:nvSpPr>
        <p:spPr>
          <a:xfrm>
            <a:off x="914400" y="960120"/>
            <a:ext cx="10363200" cy="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200" b="1" dirty="0">
                <a:solidFill>
                  <a:srgbClr val="00338D"/>
                </a:solidFill>
              </a:rPr>
              <a:t>Our audit approach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D45DC145-0FC5-5AF4-A03A-D6ABA6520CD3}"/>
              </a:ext>
            </a:extLst>
          </p:cNvPr>
          <p:cNvSpPr txBox="1"/>
          <p:nvPr/>
        </p:nvSpPr>
        <p:spPr>
          <a:xfrm>
            <a:off x="914400" y="2194560"/>
            <a:ext cx="10363200" cy="2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800" b="0" dirty="0"/>
              <a:t>•  Risk assessment driven by your business, not a checklist.</a:t>
            </a:r>
          </a:p>
          <a:p>
            <a:pPr algn="l"/>
            <a:r>
              <a:rPr lang="en-US" sz="1800" b="0" dirty="0"/>
              <a:t>•  Early identification of judgements and estimates.</a:t>
            </a:r>
          </a:p>
          <a:p>
            <a:pPr algn="l"/>
            <a:r>
              <a:rPr lang="en-US" sz="1800" b="0" dirty="0"/>
              <a:t>•  No surprises: issues are raised as we find them.</a:t>
            </a:r>
          </a:p>
        </p:txBody>
      </p:sp>
      <p:sp>
        <p:nvSpPr>
          <p:cNvPr id="6" name="block-marker">
            <a:extLst>
              <a:ext uri="{FF2B5EF4-FFF2-40B4-BE49-F238E27FC236}">
                <a16:creationId xmlns:a16="http://schemas.microsoft.com/office/drawing/2014/main" id="{D0D5D861-1B2A-545E-9053-6EA51DF8FA6C}"/>
              </a:ext>
            </a:extLst>
          </p:cNvPr>
          <p:cNvSpPr txBox="1"/>
          <p:nvPr/>
        </p:nvSpPr>
        <p:spPr>
          <a:xfrm>
            <a:off x="13106400" y="0"/>
            <a:ext cx="2743200" cy="4572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200" b="0" dirty="0"/>
              <a:t>{{block:approach}}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0CC65-4892-51A0-953D-51826E601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>
            <a:extLst>
              <a:ext uri="{FF2B5EF4-FFF2-40B4-BE49-F238E27FC236}">
                <a16:creationId xmlns:a16="http://schemas.microsoft.com/office/drawing/2014/main" id="{17E661F6-AF24-5B67-BE36-A5E752F7F7A9}"/>
              </a:ext>
            </a:extLst>
          </p:cNvPr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5B53DAC-50BC-567F-9B42-F6C1FEA8A4C1}"/>
              </a:ext>
            </a:extLst>
          </p:cNvPr>
          <p:cNvSpPr txBox="1"/>
          <p:nvPr/>
        </p:nvSpPr>
        <p:spPr>
          <a:xfrm>
            <a:off x="914400" y="960120"/>
            <a:ext cx="10363200" cy="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200" b="1" dirty="0">
                <a:solidFill>
                  <a:srgbClr val="00338D"/>
                </a:solidFill>
              </a:rPr>
              <a:t>Transition plan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C476868A-A27D-54AC-A967-3E8B940CCDCD}"/>
              </a:ext>
            </a:extLst>
          </p:cNvPr>
          <p:cNvSpPr txBox="1"/>
          <p:nvPr/>
        </p:nvSpPr>
        <p:spPr>
          <a:xfrm>
            <a:off x="914400" y="2194560"/>
            <a:ext cx="10363200" cy="2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800" b="0" dirty="0"/>
              <a:t>•  A 90-day plan from appointment to first fieldwork.</a:t>
            </a:r>
          </a:p>
          <a:p>
            <a:pPr algn="l"/>
            <a:r>
              <a:rPr lang="en-US" sz="1800" b="0" dirty="0"/>
              <a:t>•  Opening balance verification and predecessor liaison.</a:t>
            </a:r>
          </a:p>
          <a:p>
            <a:pPr algn="l"/>
            <a:r>
              <a:rPr lang="en-US" sz="1800" b="0" dirty="0"/>
              <a:t>•  No disruption to your reporting calendar.</a:t>
            </a:r>
          </a:p>
        </p:txBody>
      </p:sp>
      <p:sp>
        <p:nvSpPr>
          <p:cNvPr id="5" name="kicker">
            <a:extLst>
              <a:ext uri="{FF2B5EF4-FFF2-40B4-BE49-F238E27FC236}">
                <a16:creationId xmlns:a16="http://schemas.microsoft.com/office/drawing/2014/main" id="{134E1004-8CF8-5770-A849-FDB062314EF7}"/>
              </a:ext>
            </a:extLst>
          </p:cNvPr>
          <p:cNvSpPr txBox="1"/>
          <p:nvPr/>
        </p:nvSpPr>
        <p:spPr>
          <a:xfrm>
            <a:off x="914400" y="5943600"/>
            <a:ext cx="10363200" cy="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200" b="0" dirty="0">
                <a:solidFill>
                  <a:srgbClr val="5A6672"/>
                </a:solidFill>
              </a:rPr>
              <a:t>Included when this is a new audit client</a:t>
            </a:r>
          </a:p>
        </p:txBody>
      </p:sp>
      <p:sp>
        <p:nvSpPr>
          <p:cNvPr id="6" name="block-marker">
            <a:extLst>
              <a:ext uri="{FF2B5EF4-FFF2-40B4-BE49-F238E27FC236}">
                <a16:creationId xmlns:a16="http://schemas.microsoft.com/office/drawing/2014/main" id="{8A3CB980-84AA-559F-90D7-80485812BE38}"/>
              </a:ext>
            </a:extLst>
          </p:cNvPr>
          <p:cNvSpPr txBox="1"/>
          <p:nvPr/>
        </p:nvSpPr>
        <p:spPr>
          <a:xfrm>
            <a:off x="13106400" y="0"/>
            <a:ext cx="2743200" cy="4572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200" b="0" dirty="0"/>
              <a:t>{{block:transition_plan}}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637F5-0B13-5215-A46A-49FF7CF8A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>
            <a:extLst>
              <a:ext uri="{FF2B5EF4-FFF2-40B4-BE49-F238E27FC236}">
                <a16:creationId xmlns:a16="http://schemas.microsoft.com/office/drawing/2014/main" id="{5D0B781B-18F3-53BC-8454-8491CB71E9CF}"/>
              </a:ext>
            </a:extLst>
          </p:cNvPr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CD7666F-8E46-5DE3-92BB-E065F3F5526D}"/>
              </a:ext>
            </a:extLst>
          </p:cNvPr>
          <p:cNvSpPr txBox="1"/>
          <p:nvPr/>
        </p:nvSpPr>
        <p:spPr>
          <a:xfrm>
            <a:off x="914400" y="960120"/>
            <a:ext cx="10363200" cy="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200" b="1" dirty="0">
                <a:solidFill>
                  <a:srgbClr val="00338D"/>
                </a:solidFill>
              </a:rPr>
              <a:t>Join us for a transition lab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F40D1376-81F6-545D-8D42-C99B3D2149F8}"/>
              </a:ext>
            </a:extLst>
          </p:cNvPr>
          <p:cNvSpPr txBox="1"/>
          <p:nvPr/>
        </p:nvSpPr>
        <p:spPr>
          <a:xfrm>
            <a:off x="914400" y="2194560"/>
            <a:ext cx="10363200" cy="2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800" b="0" dirty="0"/>
              <a:t>•  A facilitated half-day with your finance leadership.</a:t>
            </a:r>
          </a:p>
          <a:p>
            <a:pPr algn="l"/>
            <a:r>
              <a:rPr lang="en-US" sz="1800" b="0" dirty="0"/>
              <a:t>•  We map the first year together before it starts.</a:t>
            </a:r>
          </a:p>
        </p:txBody>
      </p:sp>
      <p:sp>
        <p:nvSpPr>
          <p:cNvPr id="5" name="kicker">
            <a:extLst>
              <a:ext uri="{FF2B5EF4-FFF2-40B4-BE49-F238E27FC236}">
                <a16:creationId xmlns:a16="http://schemas.microsoft.com/office/drawing/2014/main" id="{20686C82-83F4-5668-90DC-BCAB8967666D}"/>
              </a:ext>
            </a:extLst>
          </p:cNvPr>
          <p:cNvSpPr txBox="1"/>
          <p:nvPr/>
        </p:nvSpPr>
        <p:spPr>
          <a:xfrm>
            <a:off x="914400" y="5943600"/>
            <a:ext cx="10363200" cy="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200" b="0" dirty="0">
                <a:solidFill>
                  <a:srgbClr val="5A6672"/>
                </a:solidFill>
              </a:rPr>
              <a:t>Included when the transition lab is requested</a:t>
            </a:r>
          </a:p>
        </p:txBody>
      </p:sp>
      <p:sp>
        <p:nvSpPr>
          <p:cNvPr id="6" name="block-marker">
            <a:extLst>
              <a:ext uri="{FF2B5EF4-FFF2-40B4-BE49-F238E27FC236}">
                <a16:creationId xmlns:a16="http://schemas.microsoft.com/office/drawing/2014/main" id="{D1634205-81C0-5C2A-83C5-AEA9C19C48C7}"/>
              </a:ext>
            </a:extLst>
          </p:cNvPr>
          <p:cNvSpPr txBox="1"/>
          <p:nvPr/>
        </p:nvSpPr>
        <p:spPr>
          <a:xfrm>
            <a:off x="13106400" y="0"/>
            <a:ext cx="2743200" cy="4572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200" b="0" dirty="0"/>
              <a:t>{{block:transition_lab}}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B9C1A-C2FD-5A37-9408-7BEEAD314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>
            <a:extLst>
              <a:ext uri="{FF2B5EF4-FFF2-40B4-BE49-F238E27FC236}">
                <a16:creationId xmlns:a16="http://schemas.microsoft.com/office/drawing/2014/main" id="{ED418E28-3889-57BC-A445-3F33115432FF}"/>
              </a:ext>
            </a:extLst>
          </p:cNvPr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86C0CCD4-12C2-56C0-8C47-DDD3F188737D}"/>
              </a:ext>
            </a:extLst>
          </p:cNvPr>
          <p:cNvSpPr txBox="1"/>
          <p:nvPr/>
        </p:nvSpPr>
        <p:spPr>
          <a:xfrm>
            <a:off x="914400" y="960120"/>
            <a:ext cx="10363200" cy="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200" b="1" dirty="0">
                <a:solidFill>
                  <a:srgbClr val="00338D"/>
                </a:solidFill>
              </a:rPr>
              <a:t>Continuity is key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336E9DDC-A596-59D6-825F-BF07FD54EDEA}"/>
              </a:ext>
            </a:extLst>
          </p:cNvPr>
          <p:cNvSpPr txBox="1"/>
          <p:nvPr/>
        </p:nvSpPr>
        <p:spPr>
          <a:xfrm>
            <a:off x="914400" y="2194560"/>
            <a:ext cx="10363200" cy="2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800" b="0" dirty="0"/>
              <a:t>•  The team that knows your business stays on it.</a:t>
            </a:r>
          </a:p>
          <a:p>
            <a:pPr algn="l"/>
            <a:r>
              <a:rPr lang="en-US" sz="1800" b="0" dirty="0"/>
              <a:t>•  Expanded scope does not mean starting again.</a:t>
            </a:r>
          </a:p>
        </p:txBody>
      </p:sp>
      <p:sp>
        <p:nvSpPr>
          <p:cNvPr id="5" name="kicker">
            <a:extLst>
              <a:ext uri="{FF2B5EF4-FFF2-40B4-BE49-F238E27FC236}">
                <a16:creationId xmlns:a16="http://schemas.microsoft.com/office/drawing/2014/main" id="{5D5A4F90-8973-5A73-8279-B0A6F9A86F4B}"/>
              </a:ext>
            </a:extLst>
          </p:cNvPr>
          <p:cNvSpPr txBox="1"/>
          <p:nvPr/>
        </p:nvSpPr>
        <p:spPr>
          <a:xfrm>
            <a:off x="914400" y="5943600"/>
            <a:ext cx="10363200" cy="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200" b="0" dirty="0">
                <a:solidFill>
                  <a:srgbClr val="5A6672"/>
                </a:solidFill>
              </a:rPr>
              <a:t>Included when the mandate expands</a:t>
            </a:r>
          </a:p>
        </p:txBody>
      </p:sp>
      <p:sp>
        <p:nvSpPr>
          <p:cNvPr id="6" name="block-marker">
            <a:extLst>
              <a:ext uri="{FF2B5EF4-FFF2-40B4-BE49-F238E27FC236}">
                <a16:creationId xmlns:a16="http://schemas.microsoft.com/office/drawing/2014/main" id="{62F9AB6D-6EC1-5231-9031-CEA20AF4F314}"/>
              </a:ext>
            </a:extLst>
          </p:cNvPr>
          <p:cNvSpPr txBox="1"/>
          <p:nvPr/>
        </p:nvSpPr>
        <p:spPr>
          <a:xfrm>
            <a:off x="13106400" y="0"/>
            <a:ext cx="2743200" cy="4572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200" b="0" dirty="0"/>
              <a:t>{{block:continuity}}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10E32-E285-595E-9FA4-250F09A15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>
            <a:extLst>
              <a:ext uri="{FF2B5EF4-FFF2-40B4-BE49-F238E27FC236}">
                <a16:creationId xmlns:a16="http://schemas.microsoft.com/office/drawing/2014/main" id="{3497B767-64C7-5163-881B-8750E8897759}"/>
              </a:ext>
            </a:extLst>
          </p:cNvPr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2D758A4-FFC8-5407-924F-6FD1DDF1734D}"/>
              </a:ext>
            </a:extLst>
          </p:cNvPr>
          <p:cNvSpPr txBox="1"/>
          <p:nvPr/>
        </p:nvSpPr>
        <p:spPr>
          <a:xfrm>
            <a:off x="914400" y="960120"/>
            <a:ext cx="10363200" cy="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200" b="1" dirty="0">
                <a:solidFill>
                  <a:srgbClr val="00338D"/>
                </a:solidFill>
              </a:rPr>
              <a:t>Scope of services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199795EC-F554-5119-A11A-A190D36D030A}"/>
              </a:ext>
            </a:extLst>
          </p:cNvPr>
          <p:cNvSpPr txBox="1"/>
          <p:nvPr/>
        </p:nvSpPr>
        <p:spPr>
          <a:xfrm>
            <a:off x="914400" y="2194560"/>
            <a:ext cx="10363200" cy="2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800" b="0" dirty="0"/>
              <a:t>•  Audit of the statutory financial statements for {{ClientName}}.</a:t>
            </a:r>
          </a:p>
          <a:p>
            <a:pPr algn="l"/>
            <a:r>
              <a:rPr lang="en-US" sz="1800" b="0" dirty="0"/>
              <a:t>•  Review of the interim financial information.</a:t>
            </a:r>
          </a:p>
          <a:p>
            <a:pPr algn="l"/>
            <a:r>
              <a:rPr lang="en-US" sz="1800" b="0" dirty="0"/>
              <a:t>•  Reporting to those charged with governance.</a:t>
            </a:r>
          </a:p>
        </p:txBody>
      </p:sp>
      <p:sp>
        <p:nvSpPr>
          <p:cNvPr id="6" name="block-marker">
            <a:extLst>
              <a:ext uri="{FF2B5EF4-FFF2-40B4-BE49-F238E27FC236}">
                <a16:creationId xmlns:a16="http://schemas.microsoft.com/office/drawing/2014/main" id="{64D4E443-565C-518A-983F-9E3A7D7DC26F}"/>
              </a:ext>
            </a:extLst>
          </p:cNvPr>
          <p:cNvSpPr txBox="1"/>
          <p:nvPr/>
        </p:nvSpPr>
        <p:spPr>
          <a:xfrm>
            <a:off x="13106400" y="0"/>
            <a:ext cx="2743200" cy="4572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200" b="0" dirty="0"/>
              <a:t>{{block:scope}}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640D2-897A-5A57-8D11-A69191DE1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>
            <a:extLst>
              <a:ext uri="{FF2B5EF4-FFF2-40B4-BE49-F238E27FC236}">
                <a16:creationId xmlns:a16="http://schemas.microsoft.com/office/drawing/2014/main" id="{F61CD19D-D810-53D5-8896-C02BA857C8BB}"/>
              </a:ext>
            </a:extLst>
          </p:cNvPr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91C7C545-F4A7-57CF-8BBE-E6346E500D8F}"/>
              </a:ext>
            </a:extLst>
          </p:cNvPr>
          <p:cNvSpPr txBox="1"/>
          <p:nvPr/>
        </p:nvSpPr>
        <p:spPr>
          <a:xfrm>
            <a:off x="914400" y="960120"/>
            <a:ext cx="10363200" cy="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200" b="1" dirty="0">
                <a:solidFill>
                  <a:srgbClr val="00338D"/>
                </a:solidFill>
              </a:rPr>
              <a:t>Scope — expansion of services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6DCDF74B-ABA0-5AE3-A6A0-E4B89FDEF37A}"/>
              </a:ext>
            </a:extLst>
          </p:cNvPr>
          <p:cNvSpPr txBox="1"/>
          <p:nvPr/>
        </p:nvSpPr>
        <p:spPr>
          <a:xfrm>
            <a:off x="914400" y="2194560"/>
            <a:ext cx="10363200" cy="2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800" b="0" dirty="0"/>
              <a:t>•  Audit of each newly acquired subsidiary in the expanded group.</a:t>
            </a:r>
          </a:p>
          <a:p>
            <a:pPr algn="l"/>
            <a:r>
              <a:rPr lang="en-US" sz="1800" b="0" dirty="0"/>
              <a:t>•  Group consolidation and component auditor instructions.</a:t>
            </a:r>
          </a:p>
          <a:p>
            <a:pPr algn="l"/>
            <a:r>
              <a:rPr lang="en-US" sz="1800" b="0" dirty="0"/>
              <a:t>•  Incremental effort scoped and priced separately.</a:t>
            </a:r>
          </a:p>
        </p:txBody>
      </p:sp>
      <p:sp>
        <p:nvSpPr>
          <p:cNvPr id="5" name="kicker">
            <a:extLst>
              <a:ext uri="{FF2B5EF4-FFF2-40B4-BE49-F238E27FC236}">
                <a16:creationId xmlns:a16="http://schemas.microsoft.com/office/drawing/2014/main" id="{F17368B2-9429-5832-844D-8089EA522792}"/>
              </a:ext>
            </a:extLst>
          </p:cNvPr>
          <p:cNvSpPr txBox="1"/>
          <p:nvPr/>
        </p:nvSpPr>
        <p:spPr>
          <a:xfrm>
            <a:off x="914400" y="5943600"/>
            <a:ext cx="10363200" cy="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200" b="0" dirty="0">
                <a:solidFill>
                  <a:srgbClr val="5A6672"/>
                </a:solidFill>
              </a:rPr>
              <a:t>Included when the mandate expands</a:t>
            </a:r>
          </a:p>
        </p:txBody>
      </p:sp>
      <p:sp>
        <p:nvSpPr>
          <p:cNvPr id="6" name="block-marker">
            <a:extLst>
              <a:ext uri="{FF2B5EF4-FFF2-40B4-BE49-F238E27FC236}">
                <a16:creationId xmlns:a16="http://schemas.microsoft.com/office/drawing/2014/main" id="{2933EBFB-1BAE-5894-AE44-D43AD0FFCC62}"/>
              </a:ext>
            </a:extLst>
          </p:cNvPr>
          <p:cNvSpPr txBox="1"/>
          <p:nvPr/>
        </p:nvSpPr>
        <p:spPr>
          <a:xfrm>
            <a:off x="13106400" y="0"/>
            <a:ext cx="2743200" cy="4572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200" b="0" dirty="0"/>
              <a:t>{{block:scope_expansion}}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D6E47-A84F-5D29-AC1D-CC98D4C83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>
            <a:extLst>
              <a:ext uri="{FF2B5EF4-FFF2-40B4-BE49-F238E27FC236}">
                <a16:creationId xmlns:a16="http://schemas.microsoft.com/office/drawing/2014/main" id="{3242ACD3-DDA2-597F-B2FF-3AB2D5FF13C4}"/>
              </a:ext>
            </a:extLst>
          </p:cNvPr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B6DD97E-73A7-5323-815A-8B408C8CC3AB}"/>
              </a:ext>
            </a:extLst>
          </p:cNvPr>
          <p:cNvSpPr txBox="1"/>
          <p:nvPr/>
        </p:nvSpPr>
        <p:spPr>
          <a:xfrm>
            <a:off x="914400" y="960120"/>
            <a:ext cx="10363200" cy="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200" b="1" dirty="0">
                <a:solidFill>
                  <a:srgbClr val="00338D"/>
                </a:solidFill>
              </a:rPr>
              <a:t>{{Industry}} credentials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4DF7347F-6803-5195-95D0-FAD936193022}"/>
              </a:ext>
            </a:extLst>
          </p:cNvPr>
          <p:cNvSpPr txBox="1"/>
          <p:nvPr/>
        </p:nvSpPr>
        <p:spPr>
          <a:xfrm>
            <a:off x="914400" y="2194560"/>
            <a:ext cx="10363200" cy="2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800" b="0" dirty="0"/>
              <a:t>•  Sector specialists who audit your peers.</a:t>
            </a:r>
          </a:p>
          <a:p>
            <a:pPr algn="l"/>
            <a:r>
              <a:rPr lang="en-US" sz="1800" b="0" dirty="0"/>
              <a:t>•  Benchmarks drawn from comparable engagements.</a:t>
            </a:r>
          </a:p>
          <a:p>
            <a:pPr algn="l"/>
            <a:r>
              <a:rPr lang="en-US" sz="1800" b="0" dirty="0"/>
              <a:t>•  Regulatory change tracked for you, not after you.</a:t>
            </a:r>
          </a:p>
        </p:txBody>
      </p:sp>
      <p:sp>
        <p:nvSpPr>
          <p:cNvPr id="5" name="kicker">
            <a:extLst>
              <a:ext uri="{FF2B5EF4-FFF2-40B4-BE49-F238E27FC236}">
                <a16:creationId xmlns:a16="http://schemas.microsoft.com/office/drawing/2014/main" id="{4735FD9D-473B-5D74-98A4-104982389EAB}"/>
              </a:ext>
            </a:extLst>
          </p:cNvPr>
          <p:cNvSpPr txBox="1"/>
          <p:nvPr/>
        </p:nvSpPr>
        <p:spPr>
          <a:xfrm>
            <a:off x="914400" y="5943600"/>
            <a:ext cx="10363200" cy="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200" b="0" dirty="0">
                <a:solidFill>
                  <a:srgbClr val="5A6672"/>
                </a:solidFill>
              </a:rPr>
              <a:t>Included when an industry is given</a:t>
            </a:r>
          </a:p>
        </p:txBody>
      </p:sp>
      <p:sp>
        <p:nvSpPr>
          <p:cNvPr id="6" name="block-marker">
            <a:extLst>
              <a:ext uri="{FF2B5EF4-FFF2-40B4-BE49-F238E27FC236}">
                <a16:creationId xmlns:a16="http://schemas.microsoft.com/office/drawing/2014/main" id="{9C267A1C-C551-5650-AAB9-EE2F470DBE9B}"/>
              </a:ext>
            </a:extLst>
          </p:cNvPr>
          <p:cNvSpPr txBox="1"/>
          <p:nvPr/>
        </p:nvSpPr>
        <p:spPr>
          <a:xfrm>
            <a:off x="13106400" y="0"/>
            <a:ext cx="2743200" cy="4572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200" b="0" dirty="0"/>
              <a:t>{{block:industry_credentials}}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D9BDA-49D1-54D8-B3FD-49F3B6D52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>
            <a:extLst>
              <a:ext uri="{FF2B5EF4-FFF2-40B4-BE49-F238E27FC236}">
                <a16:creationId xmlns:a16="http://schemas.microsoft.com/office/drawing/2014/main" id="{6DE36FA2-10CA-51F9-99FC-92779D2BE306}"/>
              </a:ext>
            </a:extLst>
          </p:cNvPr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60EA1F0-A387-58BF-B781-35B21EE4A6C1}"/>
              </a:ext>
            </a:extLst>
          </p:cNvPr>
          <p:cNvSpPr txBox="1"/>
          <p:nvPr/>
        </p:nvSpPr>
        <p:spPr>
          <a:xfrm>
            <a:off x="914400" y="960120"/>
            <a:ext cx="10363200" cy="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200" b="1" dirty="0">
                <a:solidFill>
                  <a:srgbClr val="00338D"/>
                </a:solidFill>
              </a:rPr>
              <a:t>Your local office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B313BA86-123F-59AC-B47A-62D93977124F}"/>
              </a:ext>
            </a:extLst>
          </p:cNvPr>
          <p:cNvSpPr txBox="1"/>
          <p:nvPr/>
        </p:nvSpPr>
        <p:spPr>
          <a:xfrm>
            <a:off x="914400" y="2194560"/>
            <a:ext cx="10363200" cy="2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800" b="0" dirty="0"/>
              <a:t>•  A {{City}} team on site, not a call centre.</a:t>
            </a:r>
          </a:p>
          <a:p>
            <a:pPr algn="l"/>
            <a:r>
              <a:rPr lang="en-US" sz="1800" b="0" dirty="0"/>
              <a:t>•  Partner access without a diary war.</a:t>
            </a:r>
          </a:p>
        </p:txBody>
      </p:sp>
      <p:sp>
        <p:nvSpPr>
          <p:cNvPr id="5" name="kicker">
            <a:extLst>
              <a:ext uri="{FF2B5EF4-FFF2-40B4-BE49-F238E27FC236}">
                <a16:creationId xmlns:a16="http://schemas.microsoft.com/office/drawing/2014/main" id="{700606FB-32D7-5493-9014-B131F77ECD6A}"/>
              </a:ext>
            </a:extLst>
          </p:cNvPr>
          <p:cNvSpPr txBox="1"/>
          <p:nvPr/>
        </p:nvSpPr>
        <p:spPr>
          <a:xfrm>
            <a:off x="914400" y="5943600"/>
            <a:ext cx="10363200" cy="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200" b="0" dirty="0">
                <a:solidFill>
                  <a:srgbClr val="5A6672"/>
                </a:solidFill>
              </a:rPr>
              <a:t>Included when a city is given</a:t>
            </a:r>
          </a:p>
        </p:txBody>
      </p:sp>
      <p:sp>
        <p:nvSpPr>
          <p:cNvPr id="6" name="block-marker">
            <a:extLst>
              <a:ext uri="{FF2B5EF4-FFF2-40B4-BE49-F238E27FC236}">
                <a16:creationId xmlns:a16="http://schemas.microsoft.com/office/drawing/2014/main" id="{FE7A82FA-B1F2-58E1-82CD-98E98F5BDE4B}"/>
              </a:ext>
            </a:extLst>
          </p:cNvPr>
          <p:cNvSpPr txBox="1"/>
          <p:nvPr/>
        </p:nvSpPr>
        <p:spPr>
          <a:xfrm>
            <a:off x="13106400" y="0"/>
            <a:ext cx="2743200" cy="4572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200" b="0" dirty="0"/>
              <a:t>{{block:local_office}}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72BB7-897C-5C64-9E89-61EBD5508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>
            <a:extLst>
              <a:ext uri="{FF2B5EF4-FFF2-40B4-BE49-F238E27FC236}">
                <a16:creationId xmlns:a16="http://schemas.microsoft.com/office/drawing/2014/main" id="{8C73DAE3-CE6A-532B-AEB3-26CC9F89E78B}"/>
              </a:ext>
            </a:extLst>
          </p:cNvPr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90F3D32-D726-5535-9394-411B9D89C206}"/>
              </a:ext>
            </a:extLst>
          </p:cNvPr>
          <p:cNvSpPr txBox="1"/>
          <p:nvPr/>
        </p:nvSpPr>
        <p:spPr>
          <a:xfrm>
            <a:off x="914400" y="960120"/>
            <a:ext cx="10363200" cy="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200" b="1" dirty="0">
                <a:solidFill>
                  <a:srgbClr val="00338D"/>
                </a:solidFill>
              </a:rPr>
              <a:t>Quality in all we do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2353FAD9-0C18-52CF-BB5B-2DFE966E0B90}"/>
              </a:ext>
            </a:extLst>
          </p:cNvPr>
          <p:cNvSpPr txBox="1"/>
          <p:nvPr/>
        </p:nvSpPr>
        <p:spPr>
          <a:xfrm>
            <a:off x="914400" y="2194560"/>
            <a:ext cx="10363200" cy="2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800" b="0" dirty="0"/>
              <a:t>•  Independent second partner review on every listed audit.</a:t>
            </a:r>
          </a:p>
          <a:p>
            <a:pPr algn="l"/>
            <a:r>
              <a:rPr lang="en-US" sz="1800" b="0" dirty="0"/>
              <a:t>•  Inspection results published in full.</a:t>
            </a:r>
          </a:p>
          <a:p>
            <a:pPr algn="l"/>
            <a:r>
              <a:rPr lang="en-US" sz="1800" b="0" dirty="0"/>
              <a:t>•  Escalation paths that do not depend on goodwill.</a:t>
            </a:r>
          </a:p>
        </p:txBody>
      </p:sp>
      <p:sp>
        <p:nvSpPr>
          <p:cNvPr id="5" name="kicker">
            <a:extLst>
              <a:ext uri="{FF2B5EF4-FFF2-40B4-BE49-F238E27FC236}">
                <a16:creationId xmlns:a16="http://schemas.microsoft.com/office/drawing/2014/main" id="{263E02F1-E326-575E-9339-FF3088FF1D0A}"/>
              </a:ext>
            </a:extLst>
          </p:cNvPr>
          <p:cNvSpPr txBox="1"/>
          <p:nvPr/>
        </p:nvSpPr>
        <p:spPr>
          <a:xfrm>
            <a:off x="914400" y="5943600"/>
            <a:ext cx="10363200" cy="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200" b="0" dirty="0">
                <a:solidFill>
                  <a:srgbClr val="5A6672"/>
                </a:solidFill>
              </a:rPr>
              <a:t>Included when the quality section is requested</a:t>
            </a:r>
          </a:p>
        </p:txBody>
      </p:sp>
      <p:sp>
        <p:nvSpPr>
          <p:cNvPr id="6" name="block-marker">
            <a:extLst>
              <a:ext uri="{FF2B5EF4-FFF2-40B4-BE49-F238E27FC236}">
                <a16:creationId xmlns:a16="http://schemas.microsoft.com/office/drawing/2014/main" id="{7A984572-E716-5DB7-8F6B-F2F389E2E667}"/>
              </a:ext>
            </a:extLst>
          </p:cNvPr>
          <p:cNvSpPr txBox="1"/>
          <p:nvPr/>
        </p:nvSpPr>
        <p:spPr>
          <a:xfrm>
            <a:off x="13106400" y="0"/>
            <a:ext cx="2743200" cy="4572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200" b="0" dirty="0"/>
              <a:t>{{block:quality}}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5D4C7-B113-527E-8573-19BFB6092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B86B2BF-9804-58EA-8032-4262CC9B6A15}"/>
              </a:ext>
            </a:extLst>
          </p:cNvPr>
          <p:cNvSpPr txBox="1"/>
          <p:nvPr/>
        </p:nvSpPr>
        <p:spPr>
          <a:xfrm>
            <a:off x="914400" y="960120"/>
            <a:ext cx="10363200" cy="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200" b="1" dirty="0">
                <a:solidFill>
                  <a:srgbClr val="00338D"/>
                </a:solidFill>
              </a:rPr>
              <a:t>Fees</a:t>
            </a:r>
          </a:p>
        </p:txBody>
      </p:sp>
      <p:graphicFrame>
        <p:nvGraphicFramePr>
          <p:cNvPr id="3" name="fees-table">
            <a:extLst>
              <a:ext uri="{FF2B5EF4-FFF2-40B4-BE49-F238E27FC236}">
                <a16:creationId xmlns:a16="http://schemas.microsoft.com/office/drawing/2014/main" id="{CA9D2B6F-1B8B-5EAA-A84E-9FFF6B7C2E0B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2331720"/>
          <a:ext cx="10363200" cy="2000000"/>
        </p:xfrm>
        <a:graphic>
          <a:graphicData uri="http://schemas.openxmlformats.org/drawingml/2006/table">
            <a:tbl>
              <a:tblPr firstRow="1" bandRow="1"/>
              <a:tblGrid>
                <a:gridCol w="4900000"/>
                <a:gridCol w="2600000"/>
                <a:gridCol w="2800000"/>
              </a:tblGrid>
              <a:tr h="40000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 marL="91440" marR="91440" anchor="ctr"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Timing</a:t>
                      </a:r>
                    </a:p>
                  </a:txBody>
                  <a:tcPr marL="91440" marR="91440" anchor="ctr"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Fee</a:t>
                      </a:r>
                    </a:p>
                  </a:txBody>
                  <a:tcPr marL="91440" marR="91440" anchor="ctr">
                    <a:solidFill>
                      <a:srgbClr val="00338D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Planning and risk assessment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Q1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{{FeePlanning}}</a:t>
                      </a:r>
                    </a:p>
                  </a:txBody>
                  <a:tcPr marL="91440" marR="91440" anchor="ctr">
                    <a:noFill/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Interim fieldwork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Q3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{{FeeInterim}}</a:t>
                      </a:r>
                    </a:p>
                  </a:txBody>
                  <a:tcPr marL="91440" marR="91440" anchor="ctr">
                    <a:noFill/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Year-end and reporting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Q1 following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{{FeeYearEnd}}</a:t>
                      </a:r>
                    </a:p>
                  </a:txBody>
                  <a:tcPr marL="91440" marR="91440" anchor="ctr">
                    <a:noFill/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Total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{{FeeTotal}}</a:t>
                      </a:r>
                    </a:p>
                  </a:txBody>
                  <a:tcPr marL="91440" marR="91440" anchor="ctr">
                    <a:noFill/>
                  </a:tcPr>
                </a:tc>
              </a:tr>
            </a:tbl>
          </a:graphicData>
        </a:graphic>
      </p:graphicFrame>
      <p:sp>
        <p:nvSpPr>
          <p:cNvPr id="4" name="note">
            <a:extLst>
              <a:ext uri="{FF2B5EF4-FFF2-40B4-BE49-F238E27FC236}">
                <a16:creationId xmlns:a16="http://schemas.microsoft.com/office/drawing/2014/main" id="{668E6881-F533-5E60-BA4C-4E42F52D01D9}"/>
              </a:ext>
            </a:extLst>
          </p:cNvPr>
          <p:cNvSpPr txBox="1"/>
          <p:nvPr/>
        </p:nvSpPr>
        <p:spPr>
          <a:xfrm>
            <a:off x="914400" y="5943600"/>
            <a:ext cx="10363200" cy="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200" b="0" dirty="0">
                <a:solidFill>
                  <a:srgbClr val="5A6672"/>
                </a:solidFill>
              </a:rPr>
              <a:t>Fees are fixed for the period stated and exclude disbursements.</a:t>
            </a:r>
          </a:p>
        </p:txBody>
      </p:sp>
      <p:sp>
        <p:nvSpPr>
          <p:cNvPr id="5" name="block-marker">
            <a:extLst>
              <a:ext uri="{FF2B5EF4-FFF2-40B4-BE49-F238E27FC236}">
                <a16:creationId xmlns:a16="http://schemas.microsoft.com/office/drawing/2014/main" id="{EF87A1BF-77E7-5BA5-A13C-821C42C2BFA6}"/>
              </a:ext>
            </a:extLst>
          </p:cNvPr>
          <p:cNvSpPr txBox="1"/>
          <p:nvPr/>
        </p:nvSpPr>
        <p:spPr>
          <a:xfrm>
            <a:off x="13106400" y="0"/>
            <a:ext cx="2743200" cy="4572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200" b="0" dirty="0"/>
              <a:t>{{block:fees}}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EF6FA-4834-5A19-B54B-DB35E9ABC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>
            <a:extLst>
              <a:ext uri="{FF2B5EF4-FFF2-40B4-BE49-F238E27FC236}">
                <a16:creationId xmlns:a16="http://schemas.microsoft.com/office/drawing/2014/main" id="{6D1E70EC-7417-5E83-B109-B24A3531275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8369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327E8B7-0197-5134-8513-8FDB6931E55B}"/>
              </a:ext>
            </a:extLst>
          </p:cNvPr>
          <p:cNvSpPr txBox="1"/>
          <p:nvPr/>
        </p:nvSpPr>
        <p:spPr>
          <a:xfrm>
            <a:off x="914400" y="1371600"/>
            <a:ext cx="10363200" cy="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600" b="1" dirty="0">
                <a:solidFill>
                  <a:srgbClr val="FFFFFF"/>
                </a:solidFill>
              </a:rPr>
              <a:t>Talk to us</a:t>
            </a:r>
          </a:p>
        </p:txBody>
      </p:sp>
      <p:sp>
        <p:nvSpPr>
          <p:cNvPr id="4" name="partner">
            <a:extLst>
              <a:ext uri="{FF2B5EF4-FFF2-40B4-BE49-F238E27FC236}">
                <a16:creationId xmlns:a16="http://schemas.microsoft.com/office/drawing/2014/main" id="{82D7D304-DAB8-5EA3-B939-9B9FB03A9184}"/>
              </a:ext>
            </a:extLst>
          </p:cNvPr>
          <p:cNvSpPr txBox="1"/>
          <p:nvPr/>
        </p:nvSpPr>
        <p:spPr>
          <a:xfrm>
            <a:off x="914400" y="3017520"/>
            <a:ext cx="10363200" cy="7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2000" dirty="0"/>
              <a:t>{{Lead</a:t>
            </a:r>
            <a:r>
              <a:rPr lang="en-US" sz="2000" dirty="0"/>
              <a:t>Partner}}</a:t>
            </a:r>
            <a:r>
              <a:rPr lang="en-US" sz="2000" dirty="0"/>
              <a:t>  —  engagement partner</a:t>
            </a:r>
          </a:p>
        </p:txBody>
      </p:sp>
      <p:sp>
        <p:nvSpPr>
          <p:cNvPr id="5" name="office">
            <a:extLst>
              <a:ext uri="{FF2B5EF4-FFF2-40B4-BE49-F238E27FC236}">
                <a16:creationId xmlns:a16="http://schemas.microsoft.com/office/drawing/2014/main" id="{E3CA4A9D-E562-5442-9975-CB136F984059}"/>
              </a:ext>
            </a:extLst>
          </p:cNvPr>
          <p:cNvSpPr txBox="1"/>
          <p:nvPr/>
        </p:nvSpPr>
        <p:spPr>
          <a:xfrm>
            <a:off x="914400" y="3977639"/>
            <a:ext cx="10363200" cy="6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800" b="0" dirty="0">
                <a:solidFill>
                  <a:srgbClr val="E4DAF2"/>
                </a:solidFill>
              </a:rPr>
              <a:t>{{City}} office</a:t>
            </a:r>
          </a:p>
        </p:txBody>
      </p:sp>
      <p:sp>
        <p:nvSpPr>
          <p:cNvPr id="6" name="block-marker">
            <a:extLst>
              <a:ext uri="{FF2B5EF4-FFF2-40B4-BE49-F238E27FC236}">
                <a16:creationId xmlns:a16="http://schemas.microsoft.com/office/drawing/2014/main" id="{05304610-F9D0-5C46-A951-7DD0C9E8902A}"/>
              </a:ext>
            </a:extLst>
          </p:cNvPr>
          <p:cNvSpPr txBox="1"/>
          <p:nvPr/>
        </p:nvSpPr>
        <p:spPr>
          <a:xfrm>
            <a:off x="13106400" y="0"/>
            <a:ext cx="2743200" cy="4572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200" b="0" dirty="0"/>
              <a:t>{{block:contacts}}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xture">
  <a:themeElements>
    <a:clrScheme name="Fixture">
      <a:dk1>
        <a:srgbClr val="1A1A1A"/>
      </a:dk1>
      <a:lt1>
        <a:srgbClr val="FFFFFF"/>
      </a:lt1>
      <a:dk2>
        <a:srgbClr val="0B2B4A"/>
      </a:dk2>
      <a:lt2>
        <a:srgbClr val="EEF2F6"/>
      </a:lt2>
      <a:accent1>
        <a:srgbClr val="00558C"/>
      </a:accent1>
      <a:accent2>
        <a:srgbClr val="1E9BD7"/>
      </a:accent2>
      <a:accent3>
        <a:srgbClr val="6E2585"/>
      </a:accent3>
      <a:accent4>
        <a:srgbClr val="00A3A1"/>
      </a:accent4>
      <a:accent5>
        <a:srgbClr val="AC145A"/>
      </a:accent5>
      <a:accent6>
        <a:srgbClr val="FDB913"/>
      </a:accent6>
      <a:hlink>
        <a:srgbClr val="0563C1"/>
      </a:hlink>
      <a:folHlink>
        <a:srgbClr val="954F72"/>
      </a:folHlink>
    </a:clrScheme>
    <a:fontScheme name="Fixtur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Fixture">
      <a: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