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</p:sldIdLst>
  <p:sldSz cx="12192000" cy="6858000"/>
  <p:notesSz cx="6858000" cy="12192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C3CD-9B35-50B4-82D2-6707F585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94C61494-0821-5580-B942-1AB8DD922C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A294589-A957-5593-BC80-8324BF32301E}"/>
              </a:ext>
            </a:extLst>
          </p:cNvPr>
          <p:cNvSpPr/>
          <p:nvPr/>
        </p:nvSpPr>
        <p:spPr>
          <a:xfrm>
            <a:off x="914400" y="3977639"/>
            <a:ext cx="2286000" cy="6858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3D83245-C2BE-585C-8CDD-EFDC841A3F88}"/>
              </a:ext>
            </a:extLst>
          </p:cNvPr>
          <p:cNvSpPr txBox="1"/>
          <p:nvPr/>
        </p:nvSpPr>
        <p:spPr>
          <a:xfrm>
            <a:off x="914400" y="2057400"/>
            <a:ext cx="10363200" cy="1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Globex International Holdings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D02C16B-0DED-548B-8C9C-50E1170C5A2B}"/>
              </a:ext>
            </a:extLst>
          </p:cNvPr>
          <p:cNvSpPr txBox="1"/>
          <p:nvPr/>
        </p:nvSpPr>
        <p:spPr>
          <a:xfrm>
            <a:off x="914400" y="4389120"/>
            <a:ext cx="103632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>
                <a:solidFill>
                  <a:srgbClr val="D6E4F5"/>
                </a:solidFill>
              </a:rPr>
              <a:t>Proposal for external audit services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66AD034-F6EA-515A-8634-E4A82E462F50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9FB8DA"/>
                </a:solidFill>
              </a:rPr>
              <a:t>Prepared by Demo LLP  •  March 15,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80B1-D217-526C-A695-9E92186E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2331B5A7-5038-5A63-AB5B-31800048F92C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F4ECDF-8609-56A7-B8E2-1A62FE9C8B4F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Agenda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3401561-CCA8-5C81-BA96-839700D1EEBB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Who we are</a:t>
            </a:r>
          </a:p>
          <a:p>
            <a:pPr algn="l"/>
            <a:r>
              <a:rPr lang="en-US" sz="1800" b="0" dirty="0"/>
              <a:t>•  How we audit</a:t>
            </a:r>
          </a:p>
          <a:p>
            <a:pPr algn="l"/>
            <a:r>
              <a:rPr lang="en-US" sz="1800" b="0" dirty="0"/>
              <a:t>•  Scope and timetable</a:t>
            </a:r>
          </a:p>
          <a:p>
            <a:pPr algn="l"/>
            <a:r>
              <a:rPr lang="en-US" sz="1800" b="0" dirty="0"/>
              <a:t>•  Fees</a:t>
            </a:r>
          </a:p>
          <a:p>
            <a:pPr algn="l"/>
            <a:r>
              <a:rPr lang="en-US" sz="1800" b="0" dirty="0"/>
              <a:t>•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4A06-E026-5863-9F66-967A8E96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B624E8B8-C9FB-5ED0-8184-918C151DDE5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E9D672A-AB23-58E6-8442-DADD7612F172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About Demo LLP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7268A61-EBA0-5E0D-9A3B-C00AAF258C2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national audit practice with 40 years of continuous service.</a:t>
            </a:r>
          </a:p>
          <a:p>
            <a:pPr algn="l"/>
            <a:r>
              <a:rPr lang="en-US" sz="1800" b="0" dirty="0"/>
              <a:t>•  Sector specialists embedded in every engagement team.</a:t>
            </a:r>
          </a:p>
          <a:p>
            <a:pPr algn="l"/>
            <a:r>
              <a:rPr lang="en-US" sz="1800" b="0" dirty="0"/>
              <a:t>•  Independent, and structured to stay that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1337-0691-592C-8465-CB508D9C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050DDBF2-9E72-5C89-A97E-1529F3C998D0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D9B0BE-AF0C-5922-BA14-E5B8596250BA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engagement team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E2DCF0C-A52E-5955-ADE3-A743E71B3244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Alex Reyes leads the engagement and signs the opinion.</a:t>
            </a:r>
          </a:p>
          <a:p>
            <a:pPr algn="l"/>
            <a:r>
              <a:rPr lang="en-US" sz="1800" b="0" dirty="0"/>
              <a:t>•  A named manager on site throughout fieldwork.</a:t>
            </a:r>
          </a:p>
          <a:p>
            <a:pPr algn="l"/>
            <a:r>
              <a:rPr lang="en-US" sz="1800" b="0" dirty="0"/>
              <a:t>•  Continuity of team members year over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4EC3-3ACD-56D0-BC74-8EB4CD5E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42EACAF7-6961-5304-AD37-938FCB899A2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7CF30B-372B-55B8-8506-DDB727FC9ECC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Our audit approach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45DC145-0FC5-5AF4-A03A-D6ABA6520CD3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Risk assessment driven by your business, not a checklist.</a:t>
            </a:r>
          </a:p>
          <a:p>
            <a:pPr algn="l"/>
            <a:r>
              <a:rPr lang="en-US" sz="1800" b="0" dirty="0"/>
              <a:t>•  Early identification of judgements and estimates.</a:t>
            </a:r>
          </a:p>
          <a:p>
            <a:pPr algn="l"/>
            <a:r>
              <a:rPr lang="en-US" sz="1800" b="0" dirty="0"/>
              <a:t>•  No surprises: issues are raised as we find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37F5-0B13-5215-A46A-49FF7CF8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5D0B781B-18F3-53BC-8454-8491CB71E9CF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D7666F-8E46-5DE3-92BB-E065F3F5526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Join us for a transition lab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40D1376-81F6-545D-8D42-C99B3D2149F8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facilitated half-day with your finance leadership.</a:t>
            </a:r>
          </a:p>
          <a:p>
            <a:pPr algn="l"/>
            <a:r>
              <a:rPr lang="en-US" sz="1800" b="0" dirty="0"/>
              <a:t>•  We map the first year together before it starts.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20686C82-83F4-5668-90DC-BCAB8967666D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transition lab is requested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B9C1A-C2FD-5A37-9408-7BEEAD31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ED418E28-3889-57BC-A445-3F33115432FF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6C0CCD4-12C2-56C0-8C47-DDD3F188737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Continuity is key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36E9DDC-A596-59D6-825F-BF07FD54EDE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The team that knows your business stays on it.</a:t>
            </a:r>
          </a:p>
          <a:p>
            <a:pPr algn="l"/>
            <a:r>
              <a:rPr lang="en-US" sz="1800" b="0" dirty="0"/>
              <a:t>•  Expanded scope does not mean starting again.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5D5A4F90-8973-5A73-8279-B0A6F9A86F4B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mandate expands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0E32-E285-595E-9FA4-250F09A1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497B767-64C7-5163-881B-8750E889775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D758A4-FFC8-5407-924F-6FD1DDF1734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Scope of services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99795EC-F554-5119-A11A-A190D36D030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Globex International Holdings.</a:t>
            </a:r>
          </a:p>
          <a:p>
            <a:pPr algn="l"/>
            <a:r>
              <a:rPr lang="en-US" sz="1800" b="0" dirty="0"/>
              <a:t>•  Review of the interim financial information.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40D2-897A-5A57-8D11-A69191DE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F61CD19D-D810-53D5-8896-C02BA857C8BB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1C7C545-F4A7-57CF-8BBE-E6346E500D8F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Scope — expansion of services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DCDF74B-ABA0-5AE3-A6A0-E4B89FDEF37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each newly acquired subsidiary in the expanded group.</a:t>
            </a:r>
          </a:p>
          <a:p>
            <a:pPr algn="l"/>
            <a:r>
              <a:rPr lang="en-US" sz="1800" b="0" dirty="0"/>
              <a:t>•  Group consolidation and component auditor instructions.</a:t>
            </a:r>
          </a:p>
          <a:p>
            <a:pPr algn="l"/>
            <a:r>
              <a:rPr lang="en-US" sz="1800" b="0" dirty="0"/>
              <a:t>•  Incremental effort scoped and priced separately.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F17368B2-9429-5832-844D-8089EA522792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mandate expands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6E47-A84F-5D29-AC1D-CC98D4C8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242ACD3-DDA2-597F-B2FF-3AB2D5FF13C4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B6DD97E-73A7-5323-815A-8B408C8CC3AB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Healthcare credentials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DF7347F-6803-5195-95D0-FAD936193022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Sector specialists who audit your peers.</a:t>
            </a:r>
          </a:p>
          <a:p>
            <a:pPr algn="l"/>
            <a:r>
              <a:rPr lang="en-US" sz="1800" b="0" dirty="0"/>
              <a:t>•  Benchmarks drawn from comparable engagements.</a:t>
            </a:r>
          </a:p>
          <a:p>
            <a:pPr algn="l"/>
            <a:r>
              <a:rPr lang="en-US" sz="1800" b="0" dirty="0"/>
              <a:t>•  Regulatory change tracked for you, not after you.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4735FD9D-473B-5D74-98A4-104982389EAB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an industry is given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9BDA-49D1-54D8-B3FD-49F3B6D5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6DE36FA2-10CA-51F9-99FC-92779D2BE306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60EA1F0-A387-58BF-B781-35B21EE4A6C1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local office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313BA86-123F-59AC-B47A-62D93977124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Boston team on site, not a call centre.</a:t>
            </a:r>
          </a:p>
          <a:p>
            <a:pPr algn="l"/>
            <a:r>
              <a:rPr lang="en-US" sz="1800" b="0" dirty="0"/>
              <a:t>•  Partner access without a diary war.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700606FB-32D7-5493-9014-B131F77ECD6A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a city is given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D4C7-B113-527E-8573-19BFB609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86B2BF-9804-58EA-8032-4262CC9B6A15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Fees</a:t>
            </a:r>
          </a:p>
        </p:txBody>
      </p:sp>
      <p:graphicFrame>
        <p:nvGraphicFramePr>
          <p:cNvPr id="3" name="fees-table">
            <a:extLst>
              <a:ext uri="{FF2B5EF4-FFF2-40B4-BE49-F238E27FC236}">
                <a16:creationId xmlns:a16="http://schemas.microsoft.com/office/drawing/2014/main" id="{CA9D2B6F-1B8B-5EAA-A84E-9FFF6B7C2E0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331720"/>
          <a:ext cx="10363200" cy="2000000"/>
        </p:xfrm>
        <a:graphic>
          <a:graphicData uri="http://schemas.openxmlformats.org/drawingml/2006/table">
            <a:tbl>
              <a:tblPr firstRow="1" bandRow="1"/>
              <a:tblGrid>
                <a:gridCol w="4900000"/>
                <a:gridCol w="2600000"/>
                <a:gridCol w="28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Planning and risk assessment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$48,000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Interim fieldwork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Q3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$62,000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Year-end and reporting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 following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$71,000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$181,000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>
            <a:extLst>
              <a:ext uri="{FF2B5EF4-FFF2-40B4-BE49-F238E27FC236}">
                <a16:creationId xmlns:a16="http://schemas.microsoft.com/office/drawing/2014/main" id="{668E6881-F533-5E60-BA4C-4E42F52D01D9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Fees are fixed for the period stated and exclude disbursements.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F6FA-4834-5A19-B54B-DB35E9AB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6D1E70EC-7417-5E83-B109-B24A353127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36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7E8B7-0197-5134-8513-8FDB6931E55B}"/>
              </a:ext>
            </a:extLst>
          </p:cNvPr>
          <p:cNvSpPr txBox="1"/>
          <p:nvPr/>
        </p:nvSpPr>
        <p:spPr>
          <a:xfrm>
            <a:off x="914400" y="137160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Talk to us</a:t>
            </a:r>
          </a:p>
        </p:txBody>
      </p:sp>
      <p:sp>
        <p:nvSpPr>
          <p:cNvPr id="4" name="partner">
            <a:extLst>
              <a:ext uri="{FF2B5EF4-FFF2-40B4-BE49-F238E27FC236}">
                <a16:creationId xmlns:a16="http://schemas.microsoft.com/office/drawing/2014/main" id="{82D7D304-DAB8-5EA3-B939-9B9FB03A9184}"/>
              </a:ext>
            </a:extLst>
          </p:cNvPr>
          <p:cNvSpPr txBox="1"/>
          <p:nvPr/>
        </p:nvSpPr>
        <p:spPr>
          <a:xfrm>
            <a:off x="914400" y="3017520"/>
            <a:ext cx="103632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/>
              <a:t>Alex Reyes</a:t>
            </a:r>
            <a:r>
              <a:rPr lang="en-US" sz="2000" dirty="0"/>
              <a:t/>
            </a:r>
            <a:r>
              <a:rPr lang="en-US" sz="2000" dirty="0"/>
              <a:t>  —  engagement partner</a:t>
            </a:r>
          </a:p>
        </p:txBody>
      </p:sp>
      <p:sp>
        <p:nvSpPr>
          <p:cNvPr id="5" name="office">
            <a:extLst>
              <a:ext uri="{FF2B5EF4-FFF2-40B4-BE49-F238E27FC236}">
                <a16:creationId xmlns:a16="http://schemas.microsoft.com/office/drawing/2014/main" id="{E3CA4A9D-E562-5442-9975-CB136F984059}"/>
              </a:ext>
            </a:extLst>
          </p:cNvPr>
          <p:cNvSpPr txBox="1"/>
          <p:nvPr/>
        </p:nvSpPr>
        <p:spPr>
          <a:xfrm>
            <a:off x="914400" y="3977639"/>
            <a:ext cx="10363200" cy="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>
                <a:solidFill>
                  <a:srgbClr val="E4DAF2"/>
                </a:solidFill>
              </a:rPr>
              <a:t>Boston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rgbClr val="FFFFFF"/>
      </a:lt1>
      <a:dk2>
        <a:srgbClr val="0B2B4A"/>
      </a:dk2>
      <a:lt2>
        <a:srgbClr val="EEF2F6"/>
      </a:lt2>
      <a:accent1>
        <a:srgbClr val="00558C"/>
      </a:accent1>
      <a:accent2>
        <a:srgbClr val="1E9BD7"/>
      </a:accent2>
      <a:accent3>
        <a:srgbClr val="6E2585"/>
      </a:accent3>
      <a:accent4>
        <a:srgbClr val="00A3A1"/>
      </a:accent4>
      <a:accent5>
        <a:srgbClr val="AC145A"/>
      </a:accent5>
      <a:accent6>
        <a:srgbClr val="FDB913"/>
      </a:accent6>
      <a:hlink>
        <a:srgbClr val="0563C1"/>
      </a:hlink>
      <a:folHlink>
        <a:srgbClr val="954F72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