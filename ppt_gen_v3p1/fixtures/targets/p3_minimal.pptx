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C3CD-9B35-50B4-82D2-6707F585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94C61494-0821-5580-B942-1AB8DD922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A294589-A957-5593-BC80-8324BF32301E}"/>
              </a:ext>
            </a:extLst>
          </p:cNvPr>
          <p:cNvSpPr/>
          <p:nvPr/>
        </p:nvSpPr>
        <p:spPr>
          <a:xfrm>
            <a:off x="914400" y="3977639"/>
            <a:ext cx="2286000" cy="6858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3D83245-C2BE-585C-8CDD-EFDC841A3F88}"/>
              </a:ext>
            </a:extLst>
          </p:cNvPr>
          <p:cNvSpPr txBox="1"/>
          <p:nvPr/>
        </p:nvSpPr>
        <p:spPr>
          <a:xfrm>
            <a:off x="914400" y="2057400"/>
            <a:ext cx="10363200" cy="1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Initech LLC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D02C16B-0DED-548B-8C9C-50E1170C5A2B}"/>
              </a:ext>
            </a:extLst>
          </p:cNvPr>
          <p:cNvSpPr txBox="1"/>
          <p:nvPr/>
        </p:nvSpPr>
        <p:spPr>
          <a:xfrm>
            <a:off x="914400" y="4389120"/>
            <a:ext cx="103632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D6E4F5"/>
                </a:solidFill>
              </a:rPr>
              <a:t>Proposal for external audit services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66AD034-F6EA-515A-8634-E4A82E462F50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9FB8DA"/>
                </a:solidFill>
              </a:rPr>
              <a:t>Prepared by Demo LLP  •  June 20,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0B1-D217-526C-A695-9E92186E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2331B5A7-5038-5A63-AB5B-31800048F92C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F4ECDF-8609-56A7-B8E2-1A62FE9C8B4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Agenda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401561-CCA8-5C81-BA96-839700D1EEBB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Who we are</a:t>
            </a:r>
          </a:p>
          <a:p>
            <a:pPr algn="l"/>
            <a:r>
              <a:rPr lang="en-US" sz="1800" b="0" dirty="0"/>
              <a:t>•  How we audit</a:t>
            </a:r>
          </a:p>
          <a:p>
            <a:pPr algn="l"/>
            <a:r>
              <a:rPr lang="en-US" sz="1800" b="0" dirty="0"/>
              <a:t>•  Scope and timetable</a:t>
            </a:r>
          </a:p>
          <a:p>
            <a:pPr algn="l"/>
            <a:r>
              <a:rPr lang="en-US" sz="1800" b="0" dirty="0"/>
              <a:t>•  Fees</a:t>
            </a:r>
          </a:p>
          <a:p>
            <a:pPr algn="l"/>
            <a:r>
              <a:rPr lang="en-US" sz="1800" b="0" dirty="0"/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4A06-E026-5863-9F66-967A8E96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B624E8B8-C9FB-5ED0-8184-918C151DDE5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E9D672A-AB23-58E6-8442-DADD7612F172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About Demo LLP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7268A61-EBA0-5E0D-9A3B-C00AAF258C2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1337-0691-592C-8465-CB508D9C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050DDBF2-9E72-5C89-A97E-1529F3C998D0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D9B0BE-AF0C-5922-BA14-E5B8596250BA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engagement team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2DCF0C-A52E-5955-ADE3-A743E71B3244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Alex Reyes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4EC3-3ACD-56D0-BC74-8EB4CD5E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42EACAF7-6961-5304-AD37-938FCB899A2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7CF30B-372B-55B8-8506-DDB727FC9ECC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Our audit approach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45DC145-0FC5-5AF4-A03A-D6ABA6520CD3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are raised as we find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CC65-4892-51A0-953D-51826E60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17E661F6-AF24-5B67-BE36-A5E752F7F7A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5B53DAC-50BC-567F-9B42-F6C1FEA8A4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Transition plan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476868A-A27D-54AC-A967-3E8B940CCDCD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90-day plan from appointment to first fieldwork.</a:t>
            </a:r>
          </a:p>
          <a:p>
            <a:pPr algn="l"/>
            <a:r>
              <a:rPr lang="en-US" sz="1800" b="0" dirty="0"/>
              <a:t>•  Opening balance verification and predecessor liaison.</a:t>
            </a:r>
          </a:p>
          <a:p>
            <a:pPr algn="l"/>
            <a:r>
              <a:rPr lang="en-US" sz="1800" b="0" dirty="0"/>
              <a:t>•  No disruption to your reporting calendar.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134E1004-8CF8-5770-A849-FDB062314EF7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this is a new audit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0E32-E285-595E-9FA4-250F09A1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497B767-64C7-5163-881B-8750E889775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D758A4-FFC8-5407-924F-6FD1DDF1734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99795EC-F554-5119-A11A-A190D36D030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Initech LLC.</a:t>
            </a:r>
          </a:p>
          <a:p>
            <a:pPr algn="l"/>
            <a:r>
              <a:rPr lang="en-US" sz="1800" b="0" dirty="0"/>
              <a:t>•  Review of the interim financial information.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D4C7-B113-527E-8573-19BFB6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86B2BF-9804-58EA-8032-4262CC9B6A15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Fees</a:t>
            </a:r>
          </a:p>
        </p:txBody>
      </p:sp>
      <p:graphicFrame>
        <p:nvGraphicFramePr>
          <p:cNvPr id="3" name="fees-table">
            <a:extLst>
              <a:ext uri="{FF2B5EF4-FFF2-40B4-BE49-F238E27FC236}">
                <a16:creationId xmlns:a16="http://schemas.microsoft.com/office/drawing/2014/main" id="{CA9D2B6F-1B8B-5EAA-A84E-9FFF6B7C2E0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31720"/>
          <a:ext cx="10363200" cy="2000000"/>
        </p:xfrm>
        <a:graphic>
          <a:graphicData uri="http://schemas.openxmlformats.org/drawingml/2006/table">
            <a:tbl>
              <a:tblPr firstRow="1" bandRow="1"/>
              <a:tblGrid>
                <a:gridCol w="4900000"/>
                <a:gridCol w="2600000"/>
                <a:gridCol w="28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and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$48,000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$62,000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and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 following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$71,000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$181,000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>
            <a:extLst>
              <a:ext uri="{FF2B5EF4-FFF2-40B4-BE49-F238E27FC236}">
                <a16:creationId xmlns:a16="http://schemas.microsoft.com/office/drawing/2014/main" id="{668E6881-F533-5E60-BA4C-4E42F52D01D9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fixed for the period stated and exclude disbursements.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F6FA-4834-5A19-B54B-DB35E9AB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6D1E70EC-7417-5E83-B109-B24A353127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7E8B7-0197-5134-8513-8FDB6931E55B}"/>
              </a:ext>
            </a:extLst>
          </p:cNvPr>
          <p:cNvSpPr txBox="1"/>
          <p:nvPr/>
        </p:nvSpPr>
        <p:spPr>
          <a:xfrm>
            <a:off x="914400" y="137160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4" name="partner">
            <a:extLst>
              <a:ext uri="{FF2B5EF4-FFF2-40B4-BE49-F238E27FC236}">
                <a16:creationId xmlns:a16="http://schemas.microsoft.com/office/drawing/2014/main" id="{82D7D304-DAB8-5EA3-B939-9B9FB03A9184}"/>
              </a:ext>
            </a:extLst>
          </p:cNvPr>
          <p:cNvSpPr txBox="1"/>
          <p:nvPr/>
        </p:nvSpPr>
        <p:spPr>
          <a:xfrm>
            <a:off x="914400" y="3017520"/>
            <a:ext cx="103632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Alex Reyes</a:t>
            </a:r>
            <a:r>
              <a:rPr lang="en-US" sz="2000" dirty="0"/>
              <a:t/>
            </a:r>
            <a:r>
              <a:rPr lang="en-US" sz="2000" dirty="0"/>
              <a:t>  —  engagement partner</a:t>
            </a:r>
          </a:p>
        </p:txBody>
      </p:sp>
      <p:sp>
        <p:nvSpPr>
          <p:cNvPr id="5" name="office">
            <a:extLst>
              <a:ext uri="{FF2B5EF4-FFF2-40B4-BE49-F238E27FC236}">
                <a16:creationId xmlns:a16="http://schemas.microsoft.com/office/drawing/2014/main" id="{E3CA4A9D-E562-5442-9975-CB136F984059}"/>
              </a:ext>
            </a:extLst>
          </p:cNvPr>
          <p:cNvSpPr txBox="1"/>
          <p:nvPr/>
        </p:nvSpPr>
        <p:spPr>
          <a:xfrm>
            <a:off x="914400" y="3977639"/>
            <a:ext cx="10363200" cy="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>
                <a:solidFill>
                  <a:srgbClr val="E4DAF2"/>
                </a:solidFill>
              </a:rPr>
              <a:t>{{City}}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