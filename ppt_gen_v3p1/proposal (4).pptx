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858000" cy="12192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ule"/>
          <p:cNvSpPr/>
          <p:nvPr/>
        </p:nvSpPr>
        <p:spPr>
          <a:xfrm>
            <a:off x="914400" y="3840480"/>
            <a:ext cx="2286000" cy="6858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914400" y="1920240"/>
            <a:ext cx="10363200" cy="1600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</a:rPr>
              <a:t>Globex International Holdings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914400" y="4251960"/>
            <a:ext cx="10363200" cy="8001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000" b="0" dirty="0">
                <a:solidFill>
                  <a:srgbClr val="EEF2F6"/>
                </a:solidFill>
              </a:rPr>
              <a:t>Proposal for external audit services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914400" y="594360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0" dirty="0">
                <a:solidFill>
                  <a:srgbClr val="9FB6CA"/>
                </a:solidFill>
              </a:rPr>
              <a:t>Prepared by Demo LLP  •  March 15,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About us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national audit practice with 40 years of continuous service.</a:t>
            </a:r>
          </a:p>
          <a:p>
            <a:pPr algn="l"/>
            <a:r>
              <a:rPr lang="en-US" sz="1800" b="0" dirty="0"/>
              <a:t>•  Sector specialists embedded in every engagement team.</a:t>
            </a:r>
          </a:p>
          <a:p>
            <a:pPr algn="l"/>
            <a:r>
              <a:rPr lang="en-US" sz="1800" b="0" dirty="0"/>
              <a:t>•  Independent, and structured to stay that way.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914400" y="566928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0" dirty="0">
                <a:solidFill>
                  <a:srgbClr val="5A6672"/>
                </a:solidFill>
              </a:rPr>
              <a:t>Demo LLP — audit, tax and advisory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Who you will work with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Dana Whitfield leads the engagement and signs the opinion.</a:t>
            </a:r>
          </a:p>
          <a:p>
            <a:pPr algn="l"/>
            <a:r>
              <a:rPr lang="en-US" sz="1800" b="0" dirty="0"/>
              <a:t>•  A named manager on site throughout fieldwork.</a:t>
            </a:r>
          </a:p>
          <a:p>
            <a:pPr algn="l"/>
            <a:r>
              <a:rPr lang="en-US" sz="1800" b="0" dirty="0"/>
              <a:t>•  Continuity of team members year over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Our approach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Risk assessment driven by your business, not a checklist.</a:t>
            </a:r>
          </a:p>
          <a:p>
            <a:pPr algn="l"/>
            <a:r>
              <a:rPr lang="en-US" sz="1800" b="0" dirty="0"/>
              <a:t>•  Early identification of judgements and estimates.</a:t>
            </a:r>
          </a:p>
          <a:p>
            <a:pPr algn="l"/>
            <a:r>
              <a:rPr lang="en-US" sz="1800" b="0" dirty="0"/>
              <a:t>•  No surprises: issues raised as we find them.</a:t>
            </a:r>
          </a:p>
          <a:p>
            <a:pPr algn="l"/>
            <a:r>
              <a:rPr lang="en-US" sz="1800" b="0" dirty="0"/>
              <a:t>•  Clear, written conclusions at each phase.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Expansion of services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Transition planning across the newly in-scope entities.</a:t>
            </a:r>
          </a:p>
          <a:p>
            <a:pPr algn="l"/>
            <a:r>
              <a:rPr lang="en-US" sz="1800" b="0" dirty="0"/>
              <a:t>•  A single reporting timetable covering the expanded group.</a:t>
            </a:r>
          </a:p>
          <a:p>
            <a:pPr algn="l"/>
            <a:r>
              <a:rPr lang="en-US" sz="1800" b="0" dirty="0"/>
              <a:t>•  Incremental effort scoped and priced separately.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914400" y="566928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0" dirty="0">
                <a:solidFill>
                  <a:srgbClr val="5A6672"/>
                </a:solidFill>
              </a:rPr>
              <a:t>Applies where the mandate expands beyond the current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Scope of work — expanded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the statutory financial statements for Globex International Holdings.</a:t>
            </a:r>
          </a:p>
          <a:p>
            <a:pPr algn="l"/>
            <a:r>
              <a:rPr lang="en-US" sz="1800" b="0" dirty="0"/>
              <a:t>•  Audit of each newly acquired subsidiary in the expanded group.</a:t>
            </a:r>
          </a:p>
          <a:p>
            <a:pPr algn="l"/>
            <a:r>
              <a:rPr lang="en-US" sz="1800" b="0" dirty="0"/>
              <a:t>•  Group consolidation and component auditor instructions.</a:t>
            </a:r>
          </a:p>
          <a:p>
            <a:pPr algn="l"/>
            <a:r>
              <a:rPr lang="en-US" sz="1800" b="0" dirty="0"/>
              <a:t>•  Reporting to those charged with governance.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Proposed fees</a:t>
            </a:r>
          </a:p>
        </p:txBody>
      </p:sp>
      <p:graphicFrame>
        <p:nvGraphicFramePr>
          <p:cNvPr id="4" name="fee-table"/>
          <p:cNvGraphicFramePr>
            <a:graphicFrameLocks noGrp="1"/>
          </p:cNvGraphicFramePr>
          <p:nvPr/>
        </p:nvGraphicFramePr>
        <p:xfrm>
          <a:off x="914400" y="1648640"/>
          <a:ext cx="10363200" cy="2600000"/>
        </p:xfrm>
        <a:graphic>
          <a:graphicData uri="http://schemas.openxmlformats.org/drawingml/2006/table">
            <a:tbl>
              <a:tblPr firstRow="1" bandRow="1"/>
              <a:tblGrid>
                <a:gridCol w="5181600"/>
                <a:gridCol w="2590800"/>
                <a:gridCol w="2590800"/>
              </a:tblGrid>
              <a:tr h="520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anchor="ctr">
                    <a:solidFill>
                      <a:srgbClr val="0055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anchor="ctr">
                    <a:solidFill>
                      <a:srgbClr val="0055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Fee</a:t>
                      </a:r>
                    </a:p>
                  </a:txBody>
                  <a:tcPr marL="91440" marR="91440" anchor="ctr">
                    <a:solidFill>
                      <a:srgbClr val="00558C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Planning &amp; risk assessment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$48,000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Interim fieldwork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Q2–Q3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$126,000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Year-end audit &amp; reporting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Q4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$171,000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$345,000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914400" y="576072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Fees are exclusive of VAT and out-of-pocket expenses.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73152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Your engagement team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914400" y="2200000"/>
            <a:ext cx="10363200" cy="1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000" b="0" dirty="0"/>
              <a:t>Dana Whitfield</a:t>
            </a:r>
          </a:p>
          <a:p>
            <a:pPr algn="l"/>
            <a:r>
              <a:rPr lang="en-US" sz="2000" b="0" dirty="0"/>
              <a:t>Lead audit partner</a:t>
            </a:r>
          </a:p>
        </p:txBody>
      </p:sp>
      <p:sp>
        <p:nvSpPr>
          <p:cNvPr id="5" name="office"/>
          <p:cNvSpPr txBox="1"/>
          <p:nvPr/>
        </p:nvSpPr>
        <p:spPr>
          <a:xfrm>
            <a:off x="914400" y="3900000"/>
            <a:ext cx="103632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000" dirty="0"/>
              <a:t>Local office: </a:t>
            </a:r>
            <a:r>
              <a:rPr lang="en-US" sz="2000" dirty="0"/>
              <a:t>Boston</a:t>
            </a:r>
            <a:r>
              <a:rPr lang="en-US" sz="2000" dirty="0"/>
              <a:t/>
            </a:r>
            <a:r>
              <a:rPr lang="en-US" sz="2000" dirty="0"/>
              <a:t/>
            </a:r>
          </a:p>
        </p:txBody>
      </p:sp>
      <p:sp>
        <p:nvSpPr>
          <p:cNvPr id="6" name="date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0" dirty="0">
                <a:solidFill>
                  <a:srgbClr val="5A6672"/>
                </a:solidFill>
              </a:rPr>
              <a:t>Response due March 15,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o">
  <a:themeElements>
    <a:clrScheme name="Demo">
      <a:dk1>
        <a:srgbClr val="1A1A1A"/>
      </a:dk1>
      <a:lt1>
        <a:srgbClr val="FFFFFF"/>
      </a:lt1>
      <a:dk2>
        <a:srgbClr val="0B2B4A"/>
      </a:dk2>
      <a:lt2>
        <a:srgbClr val="EEF2F6"/>
      </a:lt2>
      <a:accent1>
        <a:srgbClr val="00558C"/>
      </a:accent1>
      <a:accent2>
        <a:srgbClr val="1E9BD7"/>
      </a:accent2>
      <a:accent3>
        <a:srgbClr val="6E2585"/>
      </a:accent3>
      <a:accent4>
        <a:srgbClr val="00A3A1"/>
      </a:accent4>
      <a:accent5>
        <a:srgbClr val="AC145A"/>
      </a:accent5>
      <a:accent6>
        <a:srgbClr val="FDB913"/>
      </a:accent6>
      <a:hlink>
        <a:srgbClr val="0563C1"/>
      </a:hlink>
      <a:folHlink>
        <a:srgbClr val="954F72"/>
      </a:folHlink>
    </a:clrScheme>
    <a:fontScheme name="Dem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mo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