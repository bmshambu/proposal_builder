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18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558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ule"/>
          <p:cNvSpPr/>
          <p:nvPr/>
        </p:nvSpPr>
        <p:spPr>
          <a:xfrm>
            <a:off x="914400" y="3840480"/>
            <a:ext cx="2286000" cy="68580"/>
          </a:xfrm>
          <a:prstGeom prst="rect">
            <a:avLst/>
          </a:prstGeom>
          <a:solidFill>
            <a:srgbClr val="00A3A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itle"/>
          <p:cNvSpPr txBox="1"/>
          <p:nvPr/>
        </p:nvSpPr>
        <p:spPr>
          <a:xfrm>
            <a:off x="914400" y="1920240"/>
            <a:ext cx="10363200" cy="16002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4400" b="1" dirty="0">
                <a:solidFill>
                  <a:srgbClr val="FFFFFF"/>
                </a:solidFill>
              </a:rPr>
              <a:t>{{ClientName}}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914400" y="4251960"/>
            <a:ext cx="10363200" cy="8001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2000" b="0" dirty="0">
                <a:solidFill>
                  <a:srgbClr val="EEF2F6"/>
                </a:solidFill>
              </a:rPr>
              <a:t>Proposal for external audit services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914400" y="5943600"/>
            <a:ext cx="10363200" cy="4572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400" b="0" dirty="0">
                <a:solidFill>
                  <a:srgbClr val="9FB6CA"/>
                </a:solidFill>
              </a:rPr>
              <a:t>Prepared by Demo LLP  •  {{DueDate}}</a:t>
            </a:r>
          </a:p>
        </p:txBody>
      </p:sp>
      <p:sp>
        <p:nvSpPr>
          <p:cNvPr id="7" name="block-marker"/>
          <p:cNvSpPr txBox="1"/>
          <p:nvPr/>
        </p:nvSpPr>
        <p:spPr>
          <a:xfrm>
            <a:off x="13106400" y="0"/>
            <a:ext cx="2743200" cy="4572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200" b="0" dirty="0"/>
              <a:t>{{block:cover}}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558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914400" y="548640"/>
            <a:ext cx="10363200" cy="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3200" b="1" dirty="0">
                <a:solidFill>
                  <a:srgbClr val="00558C"/>
                </a:solidFill>
              </a:rPr>
              <a:t>About us</a:t>
            </a:r>
          </a:p>
        </p:txBody>
      </p:sp>
      <p:sp>
        <p:nvSpPr>
          <p:cNvPr id="4" name="rule"/>
          <p:cNvSpPr/>
          <p:nvPr/>
        </p:nvSpPr>
        <p:spPr>
          <a:xfrm>
            <a:off x="914400" y="1498640"/>
            <a:ext cx="1143000" cy="45720"/>
          </a:xfrm>
          <a:prstGeom prst="rect">
            <a:avLst/>
          </a:prstGeom>
          <a:solidFill>
            <a:srgbClr val="00A3A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body"/>
          <p:cNvSpPr txBox="1"/>
          <p:nvPr/>
        </p:nvSpPr>
        <p:spPr>
          <a:xfrm>
            <a:off x="914400" y="1748640"/>
            <a:ext cx="10363200" cy="4258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800" b="0" dirty="0"/>
              <a:t>•  A national audit practice with 40 years of continuous service.</a:t>
            </a:r>
          </a:p>
          <a:p>
            <a:pPr algn="l"/>
            <a:r>
              <a:rPr lang="en-US" sz="1800" b="0" dirty="0"/>
              <a:t>•  Sector specialists embedded in every engagement team.</a:t>
            </a:r>
          </a:p>
          <a:p>
            <a:pPr algn="l"/>
            <a:r>
              <a:rPr lang="en-US" sz="1800" b="0" dirty="0"/>
              <a:t>•  Independent, and structured to stay that way.</a:t>
            </a:r>
          </a:p>
        </p:txBody>
      </p:sp>
      <p:sp>
        <p:nvSpPr>
          <p:cNvPr id="6" name="kicker"/>
          <p:cNvSpPr txBox="1"/>
          <p:nvPr/>
        </p:nvSpPr>
        <p:spPr>
          <a:xfrm>
            <a:off x="914400" y="5669280"/>
            <a:ext cx="10363200" cy="4572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400" b="0" dirty="0">
                <a:solidFill>
                  <a:srgbClr val="5A6672"/>
                </a:solidFill>
              </a:rPr>
              <a:t>Demo LLP — audit, tax and advisory</a:t>
            </a:r>
          </a:p>
        </p:txBody>
      </p:sp>
      <p:sp>
        <p:nvSpPr>
          <p:cNvPr id="7" name="block-marker"/>
          <p:cNvSpPr txBox="1"/>
          <p:nvPr/>
        </p:nvSpPr>
        <p:spPr>
          <a:xfrm>
            <a:off x="13106400" y="0"/>
            <a:ext cx="2743200" cy="4572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200" b="0" dirty="0"/>
              <a:t>{{block:about_us}}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558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914400" y="548640"/>
            <a:ext cx="10363200" cy="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3200" b="1" dirty="0">
                <a:solidFill>
                  <a:srgbClr val="00558C"/>
                </a:solidFill>
              </a:rPr>
              <a:t>Who you will work with</a:t>
            </a:r>
          </a:p>
        </p:txBody>
      </p:sp>
      <p:sp>
        <p:nvSpPr>
          <p:cNvPr id="4" name="rule"/>
          <p:cNvSpPr/>
          <p:nvPr/>
        </p:nvSpPr>
        <p:spPr>
          <a:xfrm>
            <a:off x="914400" y="1498640"/>
            <a:ext cx="1143000" cy="45720"/>
          </a:xfrm>
          <a:prstGeom prst="rect">
            <a:avLst/>
          </a:prstGeom>
          <a:solidFill>
            <a:srgbClr val="00A3A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body"/>
          <p:cNvSpPr txBox="1"/>
          <p:nvPr/>
        </p:nvSpPr>
        <p:spPr>
          <a:xfrm>
            <a:off x="914400" y="1748640"/>
            <a:ext cx="10363200" cy="4258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800" b="0" dirty="0"/>
              <a:t>•  {{LeadPartner}} leads the engagement and signs the opinion.</a:t>
            </a:r>
          </a:p>
          <a:p>
            <a:pPr algn="l"/>
            <a:r>
              <a:rPr lang="en-US" sz="1800" b="0" dirty="0"/>
              <a:t>•  A named manager on site throughout fieldwork.</a:t>
            </a:r>
          </a:p>
          <a:p>
            <a:pPr algn="l"/>
            <a:r>
              <a:rPr lang="en-US" sz="1800" b="0" dirty="0"/>
              <a:t>•  Continuity of team members year over year.</a:t>
            </a:r>
          </a:p>
        </p:txBody>
      </p:sp>
      <p:sp>
        <p:nvSpPr>
          <p:cNvPr id="6" name="block-marker"/>
          <p:cNvSpPr txBox="1"/>
          <p:nvPr/>
        </p:nvSpPr>
        <p:spPr>
          <a:xfrm>
            <a:off x="13106400" y="0"/>
            <a:ext cx="2743200" cy="4572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200" b="0" dirty="0"/>
              <a:t>{{block:our_team}}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558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914400" y="548640"/>
            <a:ext cx="10363200" cy="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3200" b="1" dirty="0">
                <a:solidFill>
                  <a:srgbClr val="00558C"/>
                </a:solidFill>
              </a:rPr>
              <a:t>Our approach</a:t>
            </a:r>
          </a:p>
        </p:txBody>
      </p:sp>
      <p:sp>
        <p:nvSpPr>
          <p:cNvPr id="4" name="rule"/>
          <p:cNvSpPr/>
          <p:nvPr/>
        </p:nvSpPr>
        <p:spPr>
          <a:xfrm>
            <a:off x="914400" y="1498640"/>
            <a:ext cx="1143000" cy="45720"/>
          </a:xfrm>
          <a:prstGeom prst="rect">
            <a:avLst/>
          </a:prstGeom>
          <a:solidFill>
            <a:srgbClr val="00A3A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body"/>
          <p:cNvSpPr txBox="1"/>
          <p:nvPr/>
        </p:nvSpPr>
        <p:spPr>
          <a:xfrm>
            <a:off x="914400" y="1748640"/>
            <a:ext cx="10363200" cy="4258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800" b="0" dirty="0"/>
              <a:t>•  Risk assessment driven by your business, not a checklist.</a:t>
            </a:r>
          </a:p>
          <a:p>
            <a:pPr algn="l"/>
            <a:r>
              <a:rPr lang="en-US" sz="1800" b="0" dirty="0"/>
              <a:t>•  Early identification of judgements and estimates.</a:t>
            </a:r>
          </a:p>
          <a:p>
            <a:pPr algn="l"/>
            <a:r>
              <a:rPr lang="en-US" sz="1800" b="0" dirty="0"/>
              <a:t>•  No surprises: issues raised as we find them.</a:t>
            </a:r>
          </a:p>
          <a:p>
            <a:pPr algn="l"/>
            <a:r>
              <a:rPr lang="en-US" sz="1800" b="0" dirty="0"/>
              <a:t>•  Clear, written conclusions at each phase.</a:t>
            </a:r>
          </a:p>
        </p:txBody>
      </p:sp>
      <p:sp>
        <p:nvSpPr>
          <p:cNvPr id="6" name="block-marker"/>
          <p:cNvSpPr txBox="1"/>
          <p:nvPr/>
        </p:nvSpPr>
        <p:spPr>
          <a:xfrm>
            <a:off x="13106400" y="0"/>
            <a:ext cx="2743200" cy="4572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200" b="0" dirty="0"/>
              <a:t>{{block:approach}}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558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914400" y="548640"/>
            <a:ext cx="10363200" cy="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3200" b="1" dirty="0">
                <a:solidFill>
                  <a:srgbClr val="00558C"/>
                </a:solidFill>
              </a:rPr>
              <a:t>Expansion of services</a:t>
            </a:r>
          </a:p>
        </p:txBody>
      </p:sp>
      <p:sp>
        <p:nvSpPr>
          <p:cNvPr id="4" name="rule"/>
          <p:cNvSpPr/>
          <p:nvPr/>
        </p:nvSpPr>
        <p:spPr>
          <a:xfrm>
            <a:off x="914400" y="1498640"/>
            <a:ext cx="1143000" cy="45720"/>
          </a:xfrm>
          <a:prstGeom prst="rect">
            <a:avLst/>
          </a:prstGeom>
          <a:solidFill>
            <a:srgbClr val="00A3A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body"/>
          <p:cNvSpPr txBox="1"/>
          <p:nvPr/>
        </p:nvSpPr>
        <p:spPr>
          <a:xfrm>
            <a:off x="914400" y="1748640"/>
            <a:ext cx="10363200" cy="4258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800" b="0" dirty="0"/>
              <a:t>•  Transition planning across the newly in-scope entities.</a:t>
            </a:r>
          </a:p>
          <a:p>
            <a:pPr algn="l"/>
            <a:r>
              <a:rPr lang="en-US" sz="1800" b="0" dirty="0"/>
              <a:t>•  A single reporting timetable covering the expanded group.</a:t>
            </a:r>
          </a:p>
          <a:p>
            <a:pPr algn="l"/>
            <a:r>
              <a:rPr lang="en-US" sz="1800" b="0" dirty="0"/>
              <a:t>•  Incremental effort scoped and priced separately.</a:t>
            </a:r>
          </a:p>
        </p:txBody>
      </p:sp>
      <p:sp>
        <p:nvSpPr>
          <p:cNvPr id="6" name="kicker"/>
          <p:cNvSpPr txBox="1"/>
          <p:nvPr/>
        </p:nvSpPr>
        <p:spPr>
          <a:xfrm>
            <a:off x="914400" y="5669280"/>
            <a:ext cx="10363200" cy="4572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400" b="0" dirty="0">
                <a:solidFill>
                  <a:srgbClr val="5A6672"/>
                </a:solidFill>
              </a:rPr>
              <a:t>Applies where the mandate expands beyond the current scope</a:t>
            </a:r>
          </a:p>
        </p:txBody>
      </p:sp>
      <p:sp>
        <p:nvSpPr>
          <p:cNvPr id="7" name="block-marker"/>
          <p:cNvSpPr txBox="1"/>
          <p:nvPr/>
        </p:nvSpPr>
        <p:spPr>
          <a:xfrm>
            <a:off x="13106400" y="0"/>
            <a:ext cx="2743200" cy="4572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200" b="0" dirty="0"/>
              <a:t>{{block:expansion_detail}}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558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914400" y="548640"/>
            <a:ext cx="10363200" cy="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3200" b="1" dirty="0">
                <a:solidFill>
                  <a:srgbClr val="00558C"/>
                </a:solidFill>
              </a:rPr>
              <a:t>Scope of work</a:t>
            </a:r>
          </a:p>
        </p:txBody>
      </p:sp>
      <p:sp>
        <p:nvSpPr>
          <p:cNvPr id="4" name="rule"/>
          <p:cNvSpPr/>
          <p:nvPr/>
        </p:nvSpPr>
        <p:spPr>
          <a:xfrm>
            <a:off x="914400" y="1498640"/>
            <a:ext cx="1143000" cy="45720"/>
          </a:xfrm>
          <a:prstGeom prst="rect">
            <a:avLst/>
          </a:prstGeom>
          <a:solidFill>
            <a:srgbClr val="00A3A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body"/>
          <p:cNvSpPr txBox="1"/>
          <p:nvPr/>
        </p:nvSpPr>
        <p:spPr>
          <a:xfrm>
            <a:off x="914400" y="1748640"/>
            <a:ext cx="10363200" cy="4258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800" b="0" dirty="0"/>
              <a:t>•  Audit of the statutory financial statements for {{ClientName}}.</a:t>
            </a:r>
          </a:p>
          <a:p>
            <a:pPr algn="l"/>
            <a:r>
              <a:rPr lang="en-US" sz="1800" b="0" dirty="0"/>
              <a:t>•  Review of the interim financial information.</a:t>
            </a:r>
          </a:p>
          <a:p>
            <a:pPr algn="l"/>
            <a:r>
              <a:rPr lang="en-US" sz="1800" b="0" dirty="0"/>
              <a:t>•  Reporting to those charged with governance.</a:t>
            </a:r>
          </a:p>
        </p:txBody>
      </p:sp>
      <p:sp>
        <p:nvSpPr>
          <p:cNvPr id="6" name="block-marker"/>
          <p:cNvSpPr txBox="1"/>
          <p:nvPr/>
        </p:nvSpPr>
        <p:spPr>
          <a:xfrm>
            <a:off x="13106400" y="0"/>
            <a:ext cx="2743200" cy="4572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200" b="0" dirty="0"/>
              <a:t>{{block:scope}}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558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914400" y="548640"/>
            <a:ext cx="10363200" cy="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3200" b="1" dirty="0">
                <a:solidFill>
                  <a:srgbClr val="00558C"/>
                </a:solidFill>
              </a:rPr>
              <a:t>Scope of work — expanded</a:t>
            </a:r>
          </a:p>
        </p:txBody>
      </p:sp>
      <p:sp>
        <p:nvSpPr>
          <p:cNvPr id="4" name="rule"/>
          <p:cNvSpPr/>
          <p:nvPr/>
        </p:nvSpPr>
        <p:spPr>
          <a:xfrm>
            <a:off x="914400" y="1498640"/>
            <a:ext cx="1143000" cy="45720"/>
          </a:xfrm>
          <a:prstGeom prst="rect">
            <a:avLst/>
          </a:prstGeom>
          <a:solidFill>
            <a:srgbClr val="00A3A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body"/>
          <p:cNvSpPr txBox="1"/>
          <p:nvPr/>
        </p:nvSpPr>
        <p:spPr>
          <a:xfrm>
            <a:off x="914400" y="1748640"/>
            <a:ext cx="10363200" cy="4258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800" b="0" dirty="0"/>
              <a:t>•  Audit of the statutory financial statements for {{ClientName}}.</a:t>
            </a:r>
          </a:p>
          <a:p>
            <a:pPr algn="l"/>
            <a:r>
              <a:rPr lang="en-US" sz="1800" b="0" dirty="0"/>
              <a:t>•  Audit of each newly acquired subsidiary in the expanded group.</a:t>
            </a:r>
          </a:p>
          <a:p>
            <a:pPr algn="l"/>
            <a:r>
              <a:rPr lang="en-US" sz="1800" b="0" dirty="0"/>
              <a:t>•  Group consolidation and component auditor instructions.</a:t>
            </a:r>
          </a:p>
          <a:p>
            <a:pPr algn="l"/>
            <a:r>
              <a:rPr lang="en-US" sz="1800" b="0" dirty="0"/>
              <a:t>•  Reporting to those charged with governance.</a:t>
            </a:r>
          </a:p>
        </p:txBody>
      </p:sp>
      <p:sp>
        <p:nvSpPr>
          <p:cNvPr id="6" name="block-marker"/>
          <p:cNvSpPr txBox="1"/>
          <p:nvPr/>
        </p:nvSpPr>
        <p:spPr>
          <a:xfrm>
            <a:off x="13106400" y="0"/>
            <a:ext cx="2743200" cy="4572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200" b="0" dirty="0"/>
              <a:t>{{block:scope_expansion}}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558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914400" y="548640"/>
            <a:ext cx="10363200" cy="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3200" b="1" dirty="0">
                <a:solidFill>
                  <a:srgbClr val="00558C"/>
                </a:solidFill>
              </a:rPr>
              <a:t>Proposed fees</a:t>
            </a:r>
          </a:p>
        </p:txBody>
      </p:sp>
      <p:graphicFrame>
        <p:nvGraphicFramePr>
          <p:cNvPr id="4" name="fee-table"/>
          <p:cNvGraphicFramePr>
            <a:graphicFrameLocks noGrp="1"/>
          </p:cNvGraphicFramePr>
          <p:nvPr/>
        </p:nvGraphicFramePr>
        <p:xfrm>
          <a:off x="914400" y="1648640"/>
          <a:ext cx="10363200" cy="2600000"/>
        </p:xfrm>
        <a:graphic>
          <a:graphicData uri="http://schemas.openxmlformats.org/drawingml/2006/table">
            <a:tbl>
              <a:tblPr firstRow="1" bandRow="1"/>
              <a:tblGrid>
                <a:gridCol w="5181600"/>
                <a:gridCol w="2590800"/>
                <a:gridCol w="2590800"/>
              </a:tblGrid>
              <a:tr h="520000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Phase</a:t>
                      </a:r>
                    </a:p>
                  </a:txBody>
                  <a:tcPr marL="91440" marR="91440" anchor="ctr">
                    <a:solidFill>
                      <a:srgbClr val="0055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Timing</a:t>
                      </a:r>
                    </a:p>
                  </a:txBody>
                  <a:tcPr marL="91440" marR="91440" anchor="ctr">
                    <a:solidFill>
                      <a:srgbClr val="0055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Fee</a:t>
                      </a:r>
                    </a:p>
                  </a:txBody>
                  <a:tcPr marL="91440" marR="91440" anchor="ctr">
                    <a:solidFill>
                      <a:srgbClr val="00558C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1A1A1A"/>
                          </a:solidFill>
                        </a:rPr>
                        <a:t>Planning &amp; risk assessment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1A1A1A"/>
                          </a:solidFill>
                        </a:rPr>
                        <a:t>Q1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1A1A1A"/>
                          </a:solidFill>
                        </a:rPr>
                        <a:t>{{FeePlanning}}</a:t>
                      </a:r>
                    </a:p>
                  </a:txBody>
                  <a:tcPr marL="91440" marR="91440" anchor="ctr">
                    <a:noFill/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1A1A1A"/>
                          </a:solidFill>
                        </a:rPr>
                        <a:t>Interim fieldwork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1A1A1A"/>
                          </a:solidFill>
                        </a:rPr>
                        <a:t>Q2–Q3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1A1A1A"/>
                          </a:solidFill>
                        </a:rPr>
                        <a:t>{{FeeInterim}}</a:t>
                      </a:r>
                    </a:p>
                  </a:txBody>
                  <a:tcPr marL="91440" marR="91440" anchor="ctr">
                    <a:noFill/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1A1A1A"/>
                          </a:solidFill>
                        </a:rPr>
                        <a:t>Year-end audit &amp; reporting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1A1A1A"/>
                          </a:solidFill>
                        </a:rPr>
                        <a:t>Q4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1A1A1A"/>
                          </a:solidFill>
                        </a:rPr>
                        <a:t>{{FeeYearEnd}}</a:t>
                      </a:r>
                    </a:p>
                  </a:txBody>
                  <a:tcPr marL="91440" marR="91440" anchor="ctr">
                    <a:noFill/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1A1A1A"/>
                          </a:solidFill>
                        </a:rPr>
                        <a:t>Total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1A1A1A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1A1A1A"/>
                          </a:solidFill>
                        </a:rPr>
                        <a:t>{{FeeTotal}}</a:t>
                      </a:r>
                    </a:p>
                  </a:txBody>
                  <a:tcPr marL="91440" marR="91440" anchor="ctr">
                    <a:noFill/>
                  </a:tcPr>
                </a:tc>
              </a:tr>
            </a:tbl>
          </a:graphicData>
        </a:graphic>
      </p:graphicFrame>
      <p:sp>
        <p:nvSpPr>
          <p:cNvPr id="5" name="note"/>
          <p:cNvSpPr txBox="1"/>
          <p:nvPr/>
        </p:nvSpPr>
        <p:spPr>
          <a:xfrm>
            <a:off x="914400" y="5760720"/>
            <a:ext cx="10363200" cy="4572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200" b="0" dirty="0">
                <a:solidFill>
                  <a:srgbClr val="5A6672"/>
                </a:solidFill>
              </a:rPr>
              <a:t>Fees are exclusive of VAT and out-of-pocket expenses.</a:t>
            </a:r>
          </a:p>
        </p:txBody>
      </p:sp>
      <p:sp>
        <p:nvSpPr>
          <p:cNvPr id="6" name="block-marker"/>
          <p:cNvSpPr txBox="1"/>
          <p:nvPr/>
        </p:nvSpPr>
        <p:spPr>
          <a:xfrm>
            <a:off x="13106400" y="0"/>
            <a:ext cx="2743200" cy="4572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200" b="0" dirty="0"/>
              <a:t>{{block:fees}}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914400" y="731520"/>
            <a:ext cx="10363200" cy="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3200" b="1" dirty="0">
                <a:solidFill>
                  <a:srgbClr val="00558C"/>
                </a:solidFill>
              </a:rPr>
              <a:t>Your engagement team</a:t>
            </a:r>
          </a:p>
        </p:txBody>
      </p:sp>
      <p:sp>
        <p:nvSpPr>
          <p:cNvPr id="4" name="lead"/>
          <p:cNvSpPr txBox="1"/>
          <p:nvPr/>
        </p:nvSpPr>
        <p:spPr>
          <a:xfrm>
            <a:off x="914400" y="2200000"/>
            <a:ext cx="10363200" cy="1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2000" b="0" dirty="0"/>
              <a:t>{{LeadPartner}}</a:t>
            </a:r>
          </a:p>
          <a:p>
            <a:pPr algn="l"/>
            <a:r>
              <a:rPr lang="en-US" sz="2000" b="0" dirty="0"/>
              <a:t>Lead audit partner</a:t>
            </a:r>
          </a:p>
        </p:txBody>
      </p:sp>
      <p:sp>
        <p:nvSpPr>
          <p:cNvPr id="5" name="office"/>
          <p:cNvSpPr txBox="1"/>
          <p:nvPr/>
        </p:nvSpPr>
        <p:spPr>
          <a:xfrm>
            <a:off x="914400" y="3900000"/>
            <a:ext cx="10363200" cy="8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2000" dirty="0"/>
              <a:t>Local office: </a:t>
            </a:r>
            <a:r>
              <a:rPr lang="en-US" sz="2000" dirty="0"/>
              <a:t>{{Ci</a:t>
            </a:r>
            <a:r>
              <a:rPr lang="en-US" sz="2000" dirty="0"/>
              <a:t>ty</a:t>
            </a:r>
            <a:r>
              <a:rPr lang="en-US" sz="2000" dirty="0"/>
              <a:t>}}</a:t>
            </a:r>
          </a:p>
        </p:txBody>
      </p:sp>
      <p:sp>
        <p:nvSpPr>
          <p:cNvPr id="6" name="date"/>
          <p:cNvSpPr txBox="1"/>
          <p:nvPr/>
        </p:nvSpPr>
        <p:spPr>
          <a:xfrm>
            <a:off x="914400" y="5577840"/>
            <a:ext cx="10363200" cy="4572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400" b="0" dirty="0">
                <a:solidFill>
                  <a:srgbClr val="5A6672"/>
                </a:solidFill>
              </a:rPr>
              <a:t>Response due {{DueDate}}</a:t>
            </a:r>
          </a:p>
        </p:txBody>
      </p:sp>
      <p:sp>
        <p:nvSpPr>
          <p:cNvPr id="7" name="block-marker"/>
          <p:cNvSpPr txBox="1"/>
          <p:nvPr/>
        </p:nvSpPr>
        <p:spPr>
          <a:xfrm>
            <a:off x="13106400" y="0"/>
            <a:ext cx="2743200" cy="4572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200" b="0" dirty="0"/>
              <a:t>{{block:contacts}}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mo">
  <a:themeElements>
    <a:clrScheme name="Demo">
      <a:dk1>
        <a:srgbClr val="1A1A1A"/>
      </a:dk1>
      <a:lt1>
        <a:srgbClr val="FFFFFF"/>
      </a:lt1>
      <a:dk2>
        <a:srgbClr val="0B2B4A"/>
      </a:dk2>
      <a:lt2>
        <a:srgbClr val="EEF2F6"/>
      </a:lt2>
      <a:accent1>
        <a:srgbClr val="00558C"/>
      </a:accent1>
      <a:accent2>
        <a:srgbClr val="1E9BD7"/>
      </a:accent2>
      <a:accent3>
        <a:srgbClr val="6E2585"/>
      </a:accent3>
      <a:accent4>
        <a:srgbClr val="00A3A1"/>
      </a:accent4>
      <a:accent5>
        <a:srgbClr val="AC145A"/>
      </a:accent5>
      <a:accent6>
        <a:srgbClr val="FDB913"/>
      </a:accent6>
      <a:hlink>
        <a:srgbClr val="0563C1"/>
      </a:hlink>
      <a:folHlink>
        <a:srgbClr val="954F72"/>
      </a:folHlink>
    </a:clrScheme>
    <a:fontScheme name="Dem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mo">
      <a:fillStyleLst>
        <a:solidFill>
          <a:schemeClr val="phClr"/>
        </a:solidFill>
        <a:solidFill>
          <a:schemeClr val="phClr">
            <a:tint val="60000"/>
          </a:schemeClr>
        </a:solidFill>
        <a:solidFill>
          <a:schemeClr val="phClr">
            <a:shade val="80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